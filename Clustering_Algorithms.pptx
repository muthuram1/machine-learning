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Affinity Propagation</a:t>
            </a:r>
            <a:endParaRPr lang="en-US" sz="3000" dirty="0"/>
          </a:p>
        </p:txBody>
      </p:sp>
      <p:sp>
        <p:nvSpPr>
          <p:cNvPr id="4" name="Shape 2"/>
          <p:cNvSpPr/>
          <p:nvPr/>
        </p:nvSpPr>
        <p:spPr>
          <a:xfrm>
            <a:off x="6583680" y="137160"/>
            <a:ext cx="2286000" cy="502920"/>
          </a:xfrm>
          <a:prstGeom prst="roundRect">
            <a:avLst>
              <a:gd name="adj" fmla="val 18182"/>
            </a:avLst>
          </a:prstGeom>
          <a:solidFill>
            <a:srgbClr val="0E9F8E"/>
          </a:solidFill>
          <a:ln w="12700">
            <a:solidFill>
              <a:srgbClr val="0E9F8E"/>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Definition &amp; Diagram</a:t>
            </a:r>
            <a:endParaRPr lang="en-US" sz="1100" dirty="0"/>
          </a:p>
        </p:txBody>
      </p:sp>
      <p:sp>
        <p:nvSpPr>
          <p:cNvPr id="6" name="Shape 4"/>
          <p:cNvSpPr/>
          <p:nvPr/>
        </p:nvSpPr>
        <p:spPr>
          <a:xfrm>
            <a:off x="274320" y="960120"/>
            <a:ext cx="4663440" cy="3840480"/>
          </a:xfrm>
          <a:prstGeom prst="roundRect">
            <a:avLst>
              <a:gd name="adj" fmla="val 2857"/>
            </a:avLst>
          </a:prstGeom>
          <a:solidFill>
            <a:srgbClr val="FFFFFF"/>
          </a:solidFill>
          <a:ln w="12700">
            <a:solidFill>
              <a:srgbClr val="D4E0F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57200" y="1051560"/>
            <a:ext cx="4297680" cy="365760"/>
          </a:xfrm>
          <a:prstGeom prst="rect">
            <a:avLst/>
          </a:prstGeom>
          <a:noFill/>
          <a:ln/>
        </p:spPr>
        <p:txBody>
          <a:bodyPr wrap="square" lIns="0" tIns="0" rIns="0" bIns="0" rtlCol="0" anchor="ctr"/>
          <a:lstStyle/>
          <a:p>
            <a:pPr indent="0" marL="0">
              <a:buNone/>
            </a:pPr>
            <a:r>
              <a:rPr lang="en-US" sz="1400" b="1" dirty="0">
                <a:solidFill>
                  <a:srgbClr val="0E9F8E"/>
                </a:solidFill>
                <a:latin typeface="Calibri" pitchFamily="34" charset="0"/>
                <a:ea typeface="Calibri" pitchFamily="34" charset="-122"/>
                <a:cs typeface="Calibri" pitchFamily="34" charset="-120"/>
              </a:rPr>
              <a:t>What is it?</a:t>
            </a:r>
            <a:endParaRPr lang="en-US" sz="1400" dirty="0"/>
          </a:p>
        </p:txBody>
      </p:sp>
      <p:sp>
        <p:nvSpPr>
          <p:cNvPr id="8" name="Text 6"/>
          <p:cNvSpPr/>
          <p:nvPr/>
        </p:nvSpPr>
        <p:spPr>
          <a:xfrm>
            <a:off x="457200" y="1463040"/>
            <a:ext cx="4297680" cy="30175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Affinity Propagation is a clustering algorithm that identifies exemplars (representative data points) among data points by passing messages between pairs of samples. Unlike K-Means, it does not require the number of clusters to be specified beforehand. The number of clusters is determined by the algorithm based on two key messages: responsibility and availability.</a:t>
            </a:r>
            <a:endParaRPr lang="en-US" sz="1300" dirty="0"/>
          </a:p>
        </p:txBody>
      </p:sp>
      <p:sp>
        <p:nvSpPr>
          <p:cNvPr id="9" name="Shape 7"/>
          <p:cNvSpPr/>
          <p:nvPr/>
        </p:nvSpPr>
        <p:spPr>
          <a:xfrm>
            <a:off x="5120640" y="960120"/>
            <a:ext cx="3749040" cy="3840480"/>
          </a:xfrm>
          <a:prstGeom prst="roundRect">
            <a:avLst>
              <a:gd name="adj" fmla="val 2927"/>
            </a:avLst>
          </a:prstGeom>
          <a:solidFill>
            <a:srgbClr val="FFFFFF"/>
          </a:solidFill>
          <a:ln w="12700">
            <a:solidFill>
              <a:srgbClr val="D4E0F0"/>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303520" y="1051560"/>
            <a:ext cx="3383280" cy="320040"/>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Visual Diagram</a:t>
            </a:r>
            <a:endParaRPr lang="en-US" sz="1200" dirty="0"/>
          </a:p>
        </p:txBody>
      </p:sp>
      <p:sp>
        <p:nvSpPr>
          <p:cNvPr id="11" name="Shape 9"/>
          <p:cNvSpPr/>
          <p:nvPr/>
        </p:nvSpPr>
        <p:spPr>
          <a:xfrm>
            <a:off x="5687568" y="1984248"/>
            <a:ext cx="1188720" cy="-182880"/>
          </a:xfrm>
          <a:prstGeom prst="line">
            <a:avLst/>
          </a:prstGeom>
          <a:noFill/>
          <a:ln w="12700">
            <a:solidFill>
              <a:srgbClr val="B0C4DE"/>
            </a:solidFill>
            <a:prstDash val="dash"/>
          </a:ln>
        </p:spPr>
      </p:sp>
      <p:sp>
        <p:nvSpPr>
          <p:cNvPr id="12" name="Shape 10"/>
          <p:cNvSpPr/>
          <p:nvPr/>
        </p:nvSpPr>
        <p:spPr>
          <a:xfrm>
            <a:off x="6053328" y="2898648"/>
            <a:ext cx="822960" cy="-1097280"/>
          </a:xfrm>
          <a:prstGeom prst="line">
            <a:avLst/>
          </a:prstGeom>
          <a:noFill/>
          <a:ln w="12700">
            <a:solidFill>
              <a:srgbClr val="B0C4DE"/>
            </a:solidFill>
            <a:prstDash val="dash"/>
          </a:ln>
        </p:spPr>
      </p:sp>
      <p:sp>
        <p:nvSpPr>
          <p:cNvPr id="13" name="Shape 11"/>
          <p:cNvSpPr/>
          <p:nvPr/>
        </p:nvSpPr>
        <p:spPr>
          <a:xfrm>
            <a:off x="7516368" y="2624328"/>
            <a:ext cx="640080" cy="-640080"/>
          </a:xfrm>
          <a:prstGeom prst="line">
            <a:avLst/>
          </a:prstGeom>
          <a:noFill/>
          <a:ln w="12700">
            <a:solidFill>
              <a:srgbClr val="B0C4DE"/>
            </a:solidFill>
            <a:prstDash val="dash"/>
          </a:ln>
        </p:spPr>
      </p:sp>
      <p:sp>
        <p:nvSpPr>
          <p:cNvPr id="14" name="Shape 12"/>
          <p:cNvSpPr/>
          <p:nvPr/>
        </p:nvSpPr>
        <p:spPr>
          <a:xfrm>
            <a:off x="7516368" y="2624328"/>
            <a:ext cx="-640080" cy="-822960"/>
          </a:xfrm>
          <a:prstGeom prst="line">
            <a:avLst/>
          </a:prstGeom>
          <a:noFill/>
          <a:ln w="12700">
            <a:solidFill>
              <a:srgbClr val="B0C4DE"/>
            </a:solidFill>
            <a:prstDash val="dash"/>
          </a:ln>
        </p:spPr>
      </p:sp>
      <p:sp>
        <p:nvSpPr>
          <p:cNvPr id="15" name="Shape 13"/>
          <p:cNvSpPr/>
          <p:nvPr/>
        </p:nvSpPr>
        <p:spPr>
          <a:xfrm>
            <a:off x="7790688" y="4087368"/>
            <a:ext cx="640080" cy="-731520"/>
          </a:xfrm>
          <a:prstGeom prst="line">
            <a:avLst/>
          </a:prstGeom>
          <a:noFill/>
          <a:ln w="12700">
            <a:solidFill>
              <a:srgbClr val="B0C4DE"/>
            </a:solidFill>
            <a:prstDash val="dash"/>
          </a:ln>
        </p:spPr>
      </p:sp>
      <p:sp>
        <p:nvSpPr>
          <p:cNvPr id="16" name="Shape 14"/>
          <p:cNvSpPr/>
          <p:nvPr/>
        </p:nvSpPr>
        <p:spPr>
          <a:xfrm>
            <a:off x="8430768" y="3355848"/>
            <a:ext cx="-1828800" cy="457200"/>
          </a:xfrm>
          <a:prstGeom prst="line">
            <a:avLst/>
          </a:prstGeom>
          <a:noFill/>
          <a:ln w="12700">
            <a:solidFill>
              <a:srgbClr val="B0C4DE"/>
            </a:solidFill>
            <a:prstDash val="dash"/>
          </a:ln>
        </p:spPr>
      </p:sp>
      <p:sp>
        <p:nvSpPr>
          <p:cNvPr id="17" name="Shape 15"/>
          <p:cNvSpPr/>
          <p:nvPr/>
        </p:nvSpPr>
        <p:spPr>
          <a:xfrm>
            <a:off x="5577840" y="1874520"/>
            <a:ext cx="384048" cy="384048"/>
          </a:xfrm>
          <a:prstGeom prst="ellipse">
            <a:avLst/>
          </a:prstGeom>
          <a:solidFill>
            <a:srgbClr val="FFFFFF"/>
          </a:solidFill>
          <a:ln w="25400">
            <a:solidFill>
              <a:srgbClr val="F0A500"/>
            </a:solidFill>
            <a:prstDash val="solid"/>
          </a:ln>
        </p:spPr>
      </p:sp>
      <p:sp>
        <p:nvSpPr>
          <p:cNvPr id="18" name="Text 16"/>
          <p:cNvSpPr/>
          <p:nvPr/>
        </p:nvSpPr>
        <p:spPr>
          <a:xfrm>
            <a:off x="5577840" y="1874520"/>
            <a:ext cx="384048" cy="384048"/>
          </a:xfrm>
          <a:prstGeom prst="rect">
            <a:avLst/>
          </a:prstGeom>
          <a:noFill/>
          <a:ln/>
        </p:spPr>
        <p:txBody>
          <a:bodyPr wrap="square" lIns="0" tIns="0" rIns="0" bIns="0" rtlCol="0" anchor="ctr"/>
          <a:lstStyle/>
          <a:p>
            <a:pPr algn="ctr" indent="0" marL="0">
              <a:buNone/>
            </a:pPr>
            <a:r>
              <a:rPr lang="en-US" sz="1100" dirty="0">
                <a:solidFill>
                  <a:srgbClr val="F0A500"/>
                </a:solidFill>
                <a:latin typeface="Calibri" pitchFamily="34" charset="0"/>
                <a:ea typeface="Calibri" pitchFamily="34" charset="-122"/>
                <a:cs typeface="Calibri" pitchFamily="34" charset="-120"/>
              </a:rPr>
              <a:t>A</a:t>
            </a:r>
            <a:endParaRPr lang="en-US" sz="1100" dirty="0"/>
          </a:p>
        </p:txBody>
      </p:sp>
      <p:sp>
        <p:nvSpPr>
          <p:cNvPr id="19" name="Shape 17"/>
          <p:cNvSpPr/>
          <p:nvPr/>
        </p:nvSpPr>
        <p:spPr>
          <a:xfrm>
            <a:off x="6766560" y="1691640"/>
            <a:ext cx="384048" cy="384048"/>
          </a:xfrm>
          <a:prstGeom prst="ellipse">
            <a:avLst/>
          </a:prstGeom>
          <a:solidFill>
            <a:srgbClr val="0E9F8E"/>
          </a:solidFill>
          <a:ln w="38100">
            <a:solidFill>
              <a:srgbClr val="0E9F8E"/>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6766560" y="16916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1" name="Shape 19"/>
          <p:cNvSpPr/>
          <p:nvPr/>
        </p:nvSpPr>
        <p:spPr>
          <a:xfrm>
            <a:off x="5943600" y="2788920"/>
            <a:ext cx="384048" cy="384048"/>
          </a:xfrm>
          <a:prstGeom prst="ellipse">
            <a:avLst/>
          </a:prstGeom>
          <a:solidFill>
            <a:srgbClr val="FFFFFF"/>
          </a:solidFill>
          <a:ln w="25400">
            <a:solidFill>
              <a:srgbClr val="F0A500"/>
            </a:solidFill>
            <a:prstDash val="solid"/>
          </a:ln>
        </p:spPr>
      </p:sp>
      <p:sp>
        <p:nvSpPr>
          <p:cNvPr id="22" name="Text 20"/>
          <p:cNvSpPr/>
          <p:nvPr/>
        </p:nvSpPr>
        <p:spPr>
          <a:xfrm>
            <a:off x="5943600" y="2788920"/>
            <a:ext cx="384048" cy="384048"/>
          </a:xfrm>
          <a:prstGeom prst="rect">
            <a:avLst/>
          </a:prstGeom>
          <a:noFill/>
          <a:ln/>
        </p:spPr>
        <p:txBody>
          <a:bodyPr wrap="square" lIns="0" tIns="0" rIns="0" bIns="0" rtlCol="0" anchor="ctr"/>
          <a:lstStyle/>
          <a:p>
            <a:pPr algn="ctr" indent="0" marL="0">
              <a:buNone/>
            </a:pPr>
            <a:r>
              <a:rPr lang="en-US" sz="1100" dirty="0">
                <a:solidFill>
                  <a:srgbClr val="F0A500"/>
                </a:solidFill>
                <a:latin typeface="Calibri" pitchFamily="34" charset="0"/>
                <a:ea typeface="Calibri" pitchFamily="34" charset="-122"/>
                <a:cs typeface="Calibri" pitchFamily="34" charset="-120"/>
              </a:rPr>
              <a:t>C</a:t>
            </a:r>
            <a:endParaRPr lang="en-US" sz="1100" dirty="0"/>
          </a:p>
        </p:txBody>
      </p:sp>
      <p:sp>
        <p:nvSpPr>
          <p:cNvPr id="23" name="Shape 21"/>
          <p:cNvSpPr/>
          <p:nvPr/>
        </p:nvSpPr>
        <p:spPr>
          <a:xfrm>
            <a:off x="7406640" y="2514600"/>
            <a:ext cx="384048" cy="384048"/>
          </a:xfrm>
          <a:prstGeom prst="ellipse">
            <a:avLst/>
          </a:prstGeom>
          <a:solidFill>
            <a:srgbClr val="FFFFFF"/>
          </a:solidFill>
          <a:ln w="25400">
            <a:solidFill>
              <a:srgbClr val="0E9F8E"/>
            </a:solidFill>
            <a:prstDash val="solid"/>
          </a:ln>
        </p:spPr>
      </p:sp>
      <p:sp>
        <p:nvSpPr>
          <p:cNvPr id="24" name="Text 22"/>
          <p:cNvSpPr/>
          <p:nvPr/>
        </p:nvSpPr>
        <p:spPr>
          <a:xfrm>
            <a:off x="7406640" y="2514600"/>
            <a:ext cx="384048" cy="384048"/>
          </a:xfrm>
          <a:prstGeom prst="rect">
            <a:avLst/>
          </a:prstGeom>
          <a:noFill/>
          <a:ln/>
        </p:spPr>
        <p:txBody>
          <a:bodyPr wrap="square" lIns="0" tIns="0" rIns="0" bIns="0" rtlCol="0" anchor="ctr"/>
          <a:lstStyle/>
          <a:p>
            <a:pPr algn="ctr" indent="0" marL="0">
              <a:buNone/>
            </a:pPr>
            <a:r>
              <a:rPr lang="en-US" sz="1100" dirty="0">
                <a:solidFill>
                  <a:srgbClr val="0E9F8E"/>
                </a:solidFill>
                <a:latin typeface="Calibri" pitchFamily="34" charset="0"/>
                <a:ea typeface="Calibri" pitchFamily="34" charset="-122"/>
                <a:cs typeface="Calibri" pitchFamily="34" charset="-120"/>
              </a:rPr>
              <a:t>D</a:t>
            </a:r>
            <a:endParaRPr lang="en-US" sz="1100" dirty="0"/>
          </a:p>
        </p:txBody>
      </p:sp>
      <p:sp>
        <p:nvSpPr>
          <p:cNvPr id="25" name="Shape 23"/>
          <p:cNvSpPr/>
          <p:nvPr/>
        </p:nvSpPr>
        <p:spPr>
          <a:xfrm>
            <a:off x="8046720" y="1874520"/>
            <a:ext cx="384048" cy="384048"/>
          </a:xfrm>
          <a:prstGeom prst="ellipse">
            <a:avLst/>
          </a:prstGeom>
          <a:solidFill>
            <a:srgbClr val="FFFFFF"/>
          </a:solidFill>
          <a:ln w="25400">
            <a:solidFill>
              <a:srgbClr val="0E9F8E"/>
            </a:solidFill>
            <a:prstDash val="solid"/>
          </a:ln>
        </p:spPr>
      </p:sp>
      <p:sp>
        <p:nvSpPr>
          <p:cNvPr id="26" name="Text 24"/>
          <p:cNvSpPr/>
          <p:nvPr/>
        </p:nvSpPr>
        <p:spPr>
          <a:xfrm>
            <a:off x="8046720" y="1874520"/>
            <a:ext cx="384048" cy="384048"/>
          </a:xfrm>
          <a:prstGeom prst="rect">
            <a:avLst/>
          </a:prstGeom>
          <a:noFill/>
          <a:ln/>
        </p:spPr>
        <p:txBody>
          <a:bodyPr wrap="square" lIns="0" tIns="0" rIns="0" bIns="0" rtlCol="0" anchor="ctr"/>
          <a:lstStyle/>
          <a:p>
            <a:pPr algn="ctr" indent="0" marL="0">
              <a:buNone/>
            </a:pPr>
            <a:r>
              <a:rPr lang="en-US" sz="1100" dirty="0">
                <a:solidFill>
                  <a:srgbClr val="0E9F8E"/>
                </a:solidFill>
                <a:latin typeface="Calibri" pitchFamily="34" charset="0"/>
                <a:ea typeface="Calibri" pitchFamily="34" charset="-122"/>
                <a:cs typeface="Calibri" pitchFamily="34" charset="-120"/>
              </a:rPr>
              <a:t>E</a:t>
            </a:r>
            <a:endParaRPr lang="en-US" sz="1100" dirty="0"/>
          </a:p>
        </p:txBody>
      </p:sp>
      <p:sp>
        <p:nvSpPr>
          <p:cNvPr id="27" name="Shape 25"/>
          <p:cNvSpPr/>
          <p:nvPr/>
        </p:nvSpPr>
        <p:spPr>
          <a:xfrm>
            <a:off x="6492240" y="3703320"/>
            <a:ext cx="384048" cy="384048"/>
          </a:xfrm>
          <a:prstGeom prst="ellipse">
            <a:avLst/>
          </a:prstGeom>
          <a:solidFill>
            <a:srgbClr val="F0A500"/>
          </a:solidFill>
          <a:ln w="38100">
            <a:solidFill>
              <a:srgbClr val="F0A500"/>
            </a:solidFill>
            <a:prstDash val="solid"/>
          </a:ln>
          <a:effectLst>
            <a:outerShdw sx="100000" sy="100000" kx="0" ky="0" algn="bl" rotWithShape="0" blurRad="101600" dist="38100" dir="2700000">
              <a:srgbClr val="000000">
                <a:alpha val="12000"/>
              </a:srgbClr>
            </a:outerShdw>
          </a:effectLst>
        </p:spPr>
      </p:sp>
      <p:sp>
        <p:nvSpPr>
          <p:cNvPr id="28" name="Text 26"/>
          <p:cNvSpPr/>
          <p:nvPr/>
        </p:nvSpPr>
        <p:spPr>
          <a:xfrm>
            <a:off x="6492240" y="370332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p>
        </p:txBody>
      </p:sp>
      <p:sp>
        <p:nvSpPr>
          <p:cNvPr id="29" name="Shape 27"/>
          <p:cNvSpPr/>
          <p:nvPr/>
        </p:nvSpPr>
        <p:spPr>
          <a:xfrm>
            <a:off x="7680960" y="3977640"/>
            <a:ext cx="384048" cy="384048"/>
          </a:xfrm>
          <a:prstGeom prst="ellipse">
            <a:avLst/>
          </a:prstGeom>
          <a:solidFill>
            <a:srgbClr val="FFFFFF"/>
          </a:solidFill>
          <a:ln w="25400">
            <a:solidFill>
              <a:srgbClr val="E05A5A"/>
            </a:solidFill>
            <a:prstDash val="solid"/>
          </a:ln>
        </p:spPr>
      </p:sp>
      <p:sp>
        <p:nvSpPr>
          <p:cNvPr id="30" name="Text 28"/>
          <p:cNvSpPr/>
          <p:nvPr/>
        </p:nvSpPr>
        <p:spPr>
          <a:xfrm>
            <a:off x="7680960" y="3977640"/>
            <a:ext cx="384048" cy="384048"/>
          </a:xfrm>
          <a:prstGeom prst="rect">
            <a:avLst/>
          </a:prstGeom>
          <a:noFill/>
          <a:ln/>
        </p:spPr>
        <p:txBody>
          <a:bodyPr wrap="square" lIns="0" tIns="0" rIns="0" bIns="0" rtlCol="0" anchor="ctr"/>
          <a:lstStyle/>
          <a:p>
            <a:pPr algn="ctr" indent="0" marL="0">
              <a:buNone/>
            </a:pPr>
            <a:r>
              <a:rPr lang="en-US" sz="1100" dirty="0">
                <a:solidFill>
                  <a:srgbClr val="E05A5A"/>
                </a:solidFill>
                <a:latin typeface="Calibri" pitchFamily="34" charset="0"/>
                <a:ea typeface="Calibri" pitchFamily="34" charset="-122"/>
                <a:cs typeface="Calibri" pitchFamily="34" charset="-120"/>
              </a:rPr>
              <a:t>G</a:t>
            </a:r>
            <a:endParaRPr lang="en-US" sz="1100" dirty="0"/>
          </a:p>
        </p:txBody>
      </p:sp>
      <p:sp>
        <p:nvSpPr>
          <p:cNvPr id="31" name="Shape 29"/>
          <p:cNvSpPr/>
          <p:nvPr/>
        </p:nvSpPr>
        <p:spPr>
          <a:xfrm>
            <a:off x="8321040" y="3246120"/>
            <a:ext cx="384048" cy="384048"/>
          </a:xfrm>
          <a:prstGeom prst="ellipse">
            <a:avLst/>
          </a:prstGeom>
          <a:solidFill>
            <a:srgbClr val="E05A5A"/>
          </a:solidFill>
          <a:ln w="38100">
            <a:solidFill>
              <a:srgbClr val="E05A5A"/>
            </a:solidFill>
            <a:prstDash val="solid"/>
          </a:ln>
          <a:effectLst>
            <a:outerShdw sx="100000" sy="100000" kx="0" ky="0" algn="bl" rotWithShape="0" blurRad="101600" dist="38100" dir="2700000">
              <a:srgbClr val="000000">
                <a:alpha val="12000"/>
              </a:srgbClr>
            </a:outerShdw>
          </a:effectLst>
        </p:spPr>
      </p:sp>
      <p:sp>
        <p:nvSpPr>
          <p:cNvPr id="32" name="Text 30"/>
          <p:cNvSpPr/>
          <p:nvPr/>
        </p:nvSpPr>
        <p:spPr>
          <a:xfrm>
            <a:off x="8321040" y="324612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p>
        </p:txBody>
      </p:sp>
      <p:sp>
        <p:nvSpPr>
          <p:cNvPr id="33" name="Shape 31"/>
          <p:cNvSpPr/>
          <p:nvPr/>
        </p:nvSpPr>
        <p:spPr>
          <a:xfrm>
            <a:off x="5303520" y="3922776"/>
            <a:ext cx="201168" cy="201168"/>
          </a:xfrm>
          <a:prstGeom prst="ellipse">
            <a:avLst/>
          </a:prstGeom>
          <a:solidFill>
            <a:srgbClr val="0E9F8E"/>
          </a:solidFill>
          <a:ln w="25400">
            <a:solidFill>
              <a:srgbClr val="0E9F8E"/>
            </a:solidFill>
            <a:prstDash val="solid"/>
          </a:ln>
        </p:spPr>
      </p:sp>
      <p:sp>
        <p:nvSpPr>
          <p:cNvPr id="34" name="Text 32"/>
          <p:cNvSpPr/>
          <p:nvPr/>
        </p:nvSpPr>
        <p:spPr>
          <a:xfrm>
            <a:off x="5577840" y="3886200"/>
            <a:ext cx="137160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Exemplar</a:t>
            </a:r>
            <a:endParaRPr lang="en-US" sz="950" dirty="0"/>
          </a:p>
        </p:txBody>
      </p:sp>
      <p:sp>
        <p:nvSpPr>
          <p:cNvPr id="35" name="Shape 33"/>
          <p:cNvSpPr/>
          <p:nvPr/>
        </p:nvSpPr>
        <p:spPr>
          <a:xfrm>
            <a:off x="5303520" y="4215384"/>
            <a:ext cx="201168" cy="201168"/>
          </a:xfrm>
          <a:prstGeom prst="ellipse">
            <a:avLst/>
          </a:prstGeom>
          <a:solidFill>
            <a:srgbClr val="FFFFFF"/>
          </a:solidFill>
          <a:ln w="25400">
            <a:solidFill>
              <a:srgbClr val="0E9F8E"/>
            </a:solidFill>
            <a:prstDash val="solid"/>
          </a:ln>
        </p:spPr>
      </p:sp>
      <p:sp>
        <p:nvSpPr>
          <p:cNvPr id="36" name="Text 34"/>
          <p:cNvSpPr/>
          <p:nvPr/>
        </p:nvSpPr>
        <p:spPr>
          <a:xfrm>
            <a:off x="5577840" y="4178808"/>
            <a:ext cx="137160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Member</a:t>
            </a:r>
            <a:endParaRPr lang="en-US" sz="950" dirty="0"/>
          </a:p>
        </p:txBody>
      </p:sp>
      <p:sp>
        <p:nvSpPr>
          <p:cNvPr id="37" name="Shape 35"/>
          <p:cNvSpPr/>
          <p:nvPr/>
        </p:nvSpPr>
        <p:spPr>
          <a:xfrm>
            <a:off x="5303520" y="4608576"/>
            <a:ext cx="201168" cy="0"/>
          </a:xfrm>
          <a:prstGeom prst="line">
            <a:avLst/>
          </a:prstGeom>
          <a:noFill/>
          <a:ln w="19050">
            <a:solidFill>
              <a:srgbClr val="B0C4DE"/>
            </a:solidFill>
            <a:prstDash val="dash"/>
          </a:ln>
        </p:spPr>
      </p:sp>
      <p:sp>
        <p:nvSpPr>
          <p:cNvPr id="38" name="Text 36"/>
          <p:cNvSpPr/>
          <p:nvPr/>
        </p:nvSpPr>
        <p:spPr>
          <a:xfrm>
            <a:off x="5577840" y="4471416"/>
            <a:ext cx="137160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Message</a:t>
            </a:r>
            <a:endParaRPr lang="en-US" sz="950" dirty="0"/>
          </a:p>
        </p:txBody>
      </p:sp>
      <p:sp>
        <p:nvSpPr>
          <p:cNvPr id="39" name="Text 37"/>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1 of 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Affinity Propagation</a:t>
            </a:r>
            <a:endParaRPr lang="en-US" sz="3000" dirty="0"/>
          </a:p>
        </p:txBody>
      </p:sp>
      <p:sp>
        <p:nvSpPr>
          <p:cNvPr id="4" name="Shape 2"/>
          <p:cNvSpPr/>
          <p:nvPr/>
        </p:nvSpPr>
        <p:spPr>
          <a:xfrm>
            <a:off x="6583680" y="137160"/>
            <a:ext cx="2286000" cy="502920"/>
          </a:xfrm>
          <a:prstGeom prst="roundRect">
            <a:avLst>
              <a:gd name="adj" fmla="val 18182"/>
            </a:avLst>
          </a:prstGeom>
          <a:solidFill>
            <a:srgbClr val="F0A500"/>
          </a:solidFill>
          <a:ln w="12700">
            <a:solidFill>
              <a:srgbClr val="F0A500"/>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Pros &amp; Cons</a:t>
            </a:r>
            <a:endParaRPr lang="en-US" sz="1100" dirty="0"/>
          </a:p>
        </p:txBody>
      </p:sp>
      <p:sp>
        <p:nvSpPr>
          <p:cNvPr id="6" name="Shape 4"/>
          <p:cNvSpPr/>
          <p:nvPr/>
        </p:nvSpPr>
        <p:spPr>
          <a:xfrm>
            <a:off x="274320" y="960120"/>
            <a:ext cx="4206240" cy="3840480"/>
          </a:xfrm>
          <a:prstGeom prst="roundRect">
            <a:avLst>
              <a:gd name="adj" fmla="val 2857"/>
            </a:avLst>
          </a:prstGeom>
          <a:solidFill>
            <a:srgbClr val="FFFFFF"/>
          </a:solidFill>
          <a:ln w="19050">
            <a:solidFill>
              <a:srgbClr val="C3E6CB"/>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274320" y="960120"/>
            <a:ext cx="4206240" cy="457200"/>
          </a:xfrm>
          <a:prstGeom prst="roundRect">
            <a:avLst>
              <a:gd name="adj" fmla="val 24000"/>
            </a:avLst>
          </a:prstGeom>
          <a:solidFill>
            <a:srgbClr val="0E9F8E"/>
          </a:solidFill>
          <a:ln w="12700">
            <a:solidFill>
              <a:srgbClr val="0E9F8E"/>
            </a:solidFill>
            <a:prstDash val="solid"/>
          </a:ln>
        </p:spPr>
      </p:sp>
      <p:sp>
        <p:nvSpPr>
          <p:cNvPr id="8" name="Text 6"/>
          <p:cNvSpPr/>
          <p:nvPr/>
        </p:nvSpPr>
        <p:spPr>
          <a:xfrm>
            <a:off x="36576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Advantages</a:t>
            </a:r>
            <a:endParaRPr lang="en-US" sz="1400" dirty="0"/>
          </a:p>
        </p:txBody>
      </p:sp>
      <p:sp>
        <p:nvSpPr>
          <p:cNvPr id="9" name="Text 7"/>
          <p:cNvSpPr/>
          <p:nvPr/>
        </p:nvSpPr>
        <p:spPr>
          <a:xfrm>
            <a:off x="457200" y="1508760"/>
            <a:ext cx="3840480" cy="3108960"/>
          </a:xfrm>
          <a:prstGeom prst="rect">
            <a:avLst/>
          </a:prstGeom>
          <a:noFill/>
          <a:ln/>
        </p:spPr>
        <p:txBody>
          <a:bodyPr wrap="square" rtlCol="0" anchor="t"/>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No need to specify the number of clusters in advance</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Automatically identifies exemplars (representative points)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Works well with non-convex clusters and irregular shapes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Can handle datasets with varying cluster sizes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Produces consistent results (deterministic algorithm)</a:t>
            </a:r>
            <a:endParaRPr lang="en-US" sz="1250" dirty="0"/>
          </a:p>
        </p:txBody>
      </p:sp>
      <p:sp>
        <p:nvSpPr>
          <p:cNvPr id="10" name="Shape 8"/>
          <p:cNvSpPr/>
          <p:nvPr/>
        </p:nvSpPr>
        <p:spPr>
          <a:xfrm>
            <a:off x="4663440" y="960120"/>
            <a:ext cx="4206240" cy="3840480"/>
          </a:xfrm>
          <a:prstGeom prst="roundRect">
            <a:avLst>
              <a:gd name="adj" fmla="val 2857"/>
            </a:avLst>
          </a:prstGeom>
          <a:solidFill>
            <a:srgbClr val="FFFFFF"/>
          </a:solidFill>
          <a:ln w="19050">
            <a:solidFill>
              <a:srgbClr val="F5C6CB"/>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663440" y="960120"/>
            <a:ext cx="4206240" cy="457200"/>
          </a:xfrm>
          <a:prstGeom prst="roundRect">
            <a:avLst>
              <a:gd name="adj" fmla="val 24000"/>
            </a:avLst>
          </a:prstGeom>
          <a:solidFill>
            <a:srgbClr val="E05A5A"/>
          </a:solidFill>
          <a:ln w="12700">
            <a:solidFill>
              <a:srgbClr val="E05A5A"/>
            </a:solidFill>
            <a:prstDash val="solid"/>
          </a:ln>
        </p:spPr>
      </p:sp>
      <p:sp>
        <p:nvSpPr>
          <p:cNvPr id="12" name="Text 10"/>
          <p:cNvSpPr/>
          <p:nvPr/>
        </p:nvSpPr>
        <p:spPr>
          <a:xfrm>
            <a:off x="475488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Disadvantages</a:t>
            </a:r>
            <a:endParaRPr lang="en-US" sz="1400" dirty="0"/>
          </a:p>
        </p:txBody>
      </p:sp>
      <p:sp>
        <p:nvSpPr>
          <p:cNvPr id="13" name="Text 11"/>
          <p:cNvSpPr/>
          <p:nvPr/>
        </p:nvSpPr>
        <p:spPr>
          <a:xfrm>
            <a:off x="4846320" y="1508760"/>
            <a:ext cx="3840480" cy="3108960"/>
          </a:xfrm>
          <a:prstGeom prst="rect">
            <a:avLst/>
          </a:prstGeom>
          <a:noFill/>
          <a:ln/>
        </p:spPr>
        <p:txBody>
          <a:bodyPr wrap="square" rtlCol="0" anchor="t"/>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Computationally expensive: O(n²) time and memory complexity</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Slow on large datasets due to high memory requirements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Sensitive to the 'preference' and 'damping' hyperparameters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May produce too many or too few clusters if parameters are poor</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Not suitable for very large datasets (100k+ samples)</a:t>
            </a:r>
            <a:endParaRPr lang="en-US" sz="1250" dirty="0"/>
          </a:p>
        </p:txBody>
      </p:sp>
      <p:sp>
        <p:nvSpPr>
          <p:cNvPr id="14" name="Text 12"/>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2 of 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Affinity Propagation</a:t>
            </a:r>
            <a:endParaRPr lang="en-US" sz="3000" dirty="0"/>
          </a:p>
        </p:txBody>
      </p:sp>
      <p:sp>
        <p:nvSpPr>
          <p:cNvPr id="4" name="Shape 2"/>
          <p:cNvSpPr/>
          <p:nvPr/>
        </p:nvSpPr>
        <p:spPr>
          <a:xfrm>
            <a:off x="6583680" y="137160"/>
            <a:ext cx="2286000" cy="502920"/>
          </a:xfrm>
          <a:prstGeom prst="roundRect">
            <a:avLst>
              <a:gd name="adj" fmla="val 18182"/>
            </a:avLst>
          </a:prstGeom>
          <a:solidFill>
            <a:srgbClr val="7C3AED"/>
          </a:solidFill>
          <a:ln w="12700">
            <a:solidFill>
              <a:srgbClr val="7C3AED"/>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 Code</a:t>
            </a:r>
            <a:endParaRPr lang="en-US" sz="1100" dirty="0"/>
          </a:p>
        </p:txBody>
      </p:sp>
      <p:sp>
        <p:nvSpPr>
          <p:cNvPr id="6" name="Shape 4"/>
          <p:cNvSpPr/>
          <p:nvPr/>
        </p:nvSpPr>
        <p:spPr>
          <a:xfrm>
            <a:off x="274320" y="960120"/>
            <a:ext cx="8595360" cy="3566160"/>
          </a:xfrm>
          <a:prstGeom prst="roundRect">
            <a:avLst>
              <a:gd name="adj" fmla="val 3077"/>
            </a:avLst>
          </a:prstGeom>
          <a:solidFill>
            <a:srgbClr val="1E293B"/>
          </a:solidFill>
          <a:ln w="12700">
            <a:solidFill>
              <a:srgbClr val="0D1929"/>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02920" y="1005840"/>
            <a:ext cx="8138160" cy="274320"/>
          </a:xfrm>
          <a:prstGeom prst="rect">
            <a:avLst/>
          </a:prstGeom>
          <a:noFill/>
          <a:ln/>
        </p:spPr>
        <p:txBody>
          <a:bodyPr wrap="square" rtlCol="0" anchor="ctr"/>
          <a:lstStyle/>
          <a:p>
            <a:pPr indent="0" marL="0">
              <a:buNone/>
            </a:pPr>
            <a:r>
              <a:rPr lang="en-US" sz="1100" i="1" dirty="0">
                <a:solidFill>
                  <a:srgbClr val="6B8CAE"/>
                </a:solidFill>
                <a:latin typeface="Courier New" pitchFamily="34" charset="0"/>
                <a:ea typeface="Courier New" pitchFamily="34" charset="-122"/>
                <a:cs typeface="Courier New" pitchFamily="34" charset="-120"/>
              </a:rPr>
              <a:t># Python Implementation</a:t>
            </a:r>
            <a:endParaRPr lang="en-US" sz="1100" dirty="0"/>
          </a:p>
        </p:txBody>
      </p:sp>
      <p:sp>
        <p:nvSpPr>
          <p:cNvPr id="8" name="Text 6"/>
          <p:cNvSpPr/>
          <p:nvPr/>
        </p:nvSpPr>
        <p:spPr>
          <a:xfrm>
            <a:off x="502920" y="1280160"/>
            <a:ext cx="8138160" cy="3108960"/>
          </a:xfrm>
          <a:prstGeom prst="rect">
            <a:avLst/>
          </a:prstGeom>
          <a:noFill/>
          <a:ln/>
        </p:spPr>
        <p:txBody>
          <a:bodyPr wrap="square" rtlCol="0" anchor="t"/>
          <a:lstStyle/>
          <a:p>
            <a:pPr indent="0" marL="0">
              <a:buNone/>
            </a:pPr>
            <a:r>
              <a:rPr lang="en-US" sz="1150" dirty="0">
                <a:solidFill>
                  <a:srgbClr val="A8D8A8"/>
                </a:solidFill>
                <a:latin typeface="Courier New" pitchFamily="34" charset="0"/>
                <a:ea typeface="Courier New" pitchFamily="34" charset="-122"/>
                <a:cs typeface="Courier New" pitchFamily="34" charset="-120"/>
              </a:rPr>
              <a:t>from sklearn.cluster import AffinityPropagation</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from sklearn.datasets import make_blobs</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import matplotlib.pyplot as plt</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Generate sample data</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X, _ = make_blobs(n_samples=300, centers=4, random_state=42)</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Create and fit the model</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model = AffinityPropagation(damping=0.9, preference=-200)</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model.fit(X)</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Get cluster labels and exemplar indices</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labels = model.labels_</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exemplars = model.cluster_centers_indices_</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n_clusters = len(exemplars)</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print(f'Estimated clusters: {n_clusters}')</a:t>
            </a:r>
            <a:endParaRPr lang="en-US" sz="1150" dirty="0"/>
          </a:p>
        </p:txBody>
      </p:sp>
      <p:sp>
        <p:nvSpPr>
          <p:cNvPr id="9" name="Shape 7"/>
          <p:cNvSpPr/>
          <p:nvPr/>
        </p:nvSpPr>
        <p:spPr>
          <a:xfrm>
            <a:off x="274320" y="4663440"/>
            <a:ext cx="2651760" cy="365760"/>
          </a:xfrm>
          <a:prstGeom prst="roundRect">
            <a:avLst>
              <a:gd name="adj" fmla="val 25000"/>
            </a:avLst>
          </a:prstGeom>
          <a:solidFill>
            <a:srgbClr val="EDE9FE"/>
          </a:solidFill>
          <a:ln w="12700">
            <a:solidFill>
              <a:srgbClr val="C4B5FD"/>
            </a:solidFill>
            <a:prstDash val="solid"/>
          </a:ln>
        </p:spPr>
      </p:sp>
      <p:sp>
        <p:nvSpPr>
          <p:cNvPr id="10" name="Text 8"/>
          <p:cNvSpPr/>
          <p:nvPr/>
        </p:nvSpPr>
        <p:spPr>
          <a:xfrm>
            <a:off x="32004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damping controls convergence</a:t>
            </a:r>
            <a:endParaRPr lang="en-US" sz="1050" dirty="0"/>
          </a:p>
        </p:txBody>
      </p:sp>
      <p:sp>
        <p:nvSpPr>
          <p:cNvPr id="11" name="Shape 9"/>
          <p:cNvSpPr/>
          <p:nvPr/>
        </p:nvSpPr>
        <p:spPr>
          <a:xfrm>
            <a:off x="3108960" y="4663440"/>
            <a:ext cx="2651760" cy="365760"/>
          </a:xfrm>
          <a:prstGeom prst="roundRect">
            <a:avLst>
              <a:gd name="adj" fmla="val 25000"/>
            </a:avLst>
          </a:prstGeom>
          <a:solidFill>
            <a:srgbClr val="EDE9FE"/>
          </a:solidFill>
          <a:ln w="12700">
            <a:solidFill>
              <a:srgbClr val="C4B5FD"/>
            </a:solidFill>
            <a:prstDash val="solid"/>
          </a:ln>
        </p:spPr>
      </p:sp>
      <p:sp>
        <p:nvSpPr>
          <p:cNvPr id="12" name="Text 10"/>
          <p:cNvSpPr/>
          <p:nvPr/>
        </p:nvSpPr>
        <p:spPr>
          <a:xfrm>
            <a:off x="315468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preference sets cluster count</a:t>
            </a:r>
            <a:endParaRPr lang="en-US" sz="1050" dirty="0"/>
          </a:p>
        </p:txBody>
      </p:sp>
      <p:sp>
        <p:nvSpPr>
          <p:cNvPr id="13" name="Shape 11"/>
          <p:cNvSpPr/>
          <p:nvPr/>
        </p:nvSpPr>
        <p:spPr>
          <a:xfrm>
            <a:off x="5943600" y="4663440"/>
            <a:ext cx="2651760" cy="365760"/>
          </a:xfrm>
          <a:prstGeom prst="roundRect">
            <a:avLst>
              <a:gd name="adj" fmla="val 25000"/>
            </a:avLst>
          </a:prstGeom>
          <a:solidFill>
            <a:srgbClr val="EDE9FE"/>
          </a:solidFill>
          <a:ln w="12700">
            <a:solidFill>
              <a:srgbClr val="C4B5FD"/>
            </a:solidFill>
            <a:prstDash val="solid"/>
          </a:ln>
        </p:spPr>
      </p:sp>
      <p:sp>
        <p:nvSpPr>
          <p:cNvPr id="14" name="Text 12"/>
          <p:cNvSpPr/>
          <p:nvPr/>
        </p:nvSpPr>
        <p:spPr>
          <a:xfrm>
            <a:off x="598932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cluster_centers_indices_ = exemplars</a:t>
            </a:r>
            <a:endParaRPr lang="en-US" sz="1050" dirty="0"/>
          </a:p>
        </p:txBody>
      </p:sp>
      <p:sp>
        <p:nvSpPr>
          <p:cNvPr id="15" name="Text 13"/>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3 of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Mean Shift</a:t>
            </a:r>
            <a:endParaRPr lang="en-US" sz="3000" dirty="0"/>
          </a:p>
        </p:txBody>
      </p:sp>
      <p:sp>
        <p:nvSpPr>
          <p:cNvPr id="4" name="Shape 2"/>
          <p:cNvSpPr/>
          <p:nvPr/>
        </p:nvSpPr>
        <p:spPr>
          <a:xfrm>
            <a:off x="6583680" y="137160"/>
            <a:ext cx="2286000" cy="502920"/>
          </a:xfrm>
          <a:prstGeom prst="roundRect">
            <a:avLst>
              <a:gd name="adj" fmla="val 18182"/>
            </a:avLst>
          </a:prstGeom>
          <a:solidFill>
            <a:srgbClr val="0E9F8E"/>
          </a:solidFill>
          <a:ln w="12700">
            <a:solidFill>
              <a:srgbClr val="0E9F8E"/>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Definition &amp; Diagram</a:t>
            </a:r>
            <a:endParaRPr lang="en-US" sz="1100" dirty="0"/>
          </a:p>
        </p:txBody>
      </p:sp>
      <p:sp>
        <p:nvSpPr>
          <p:cNvPr id="6" name="Shape 4"/>
          <p:cNvSpPr/>
          <p:nvPr/>
        </p:nvSpPr>
        <p:spPr>
          <a:xfrm>
            <a:off x="274320" y="960120"/>
            <a:ext cx="4663440" cy="3840480"/>
          </a:xfrm>
          <a:prstGeom prst="roundRect">
            <a:avLst>
              <a:gd name="adj" fmla="val 2857"/>
            </a:avLst>
          </a:prstGeom>
          <a:solidFill>
            <a:srgbClr val="FFFFFF"/>
          </a:solidFill>
          <a:ln w="12700">
            <a:solidFill>
              <a:srgbClr val="D4E0F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57200" y="1051560"/>
            <a:ext cx="4297680" cy="365760"/>
          </a:xfrm>
          <a:prstGeom prst="rect">
            <a:avLst/>
          </a:prstGeom>
          <a:noFill/>
          <a:ln/>
        </p:spPr>
        <p:txBody>
          <a:bodyPr wrap="square" lIns="0" tIns="0" rIns="0" bIns="0" rtlCol="0" anchor="ctr"/>
          <a:lstStyle/>
          <a:p>
            <a:pPr indent="0" marL="0">
              <a:buNone/>
            </a:pPr>
            <a:r>
              <a:rPr lang="en-US" sz="1400" b="1" dirty="0">
                <a:solidFill>
                  <a:srgbClr val="0E9F8E"/>
                </a:solidFill>
                <a:latin typeface="Calibri" pitchFamily="34" charset="0"/>
                <a:ea typeface="Calibri" pitchFamily="34" charset="-122"/>
                <a:cs typeface="Calibri" pitchFamily="34" charset="-120"/>
              </a:rPr>
              <a:t>What is it?</a:t>
            </a:r>
            <a:endParaRPr lang="en-US" sz="1400" dirty="0"/>
          </a:p>
        </p:txBody>
      </p:sp>
      <p:sp>
        <p:nvSpPr>
          <p:cNvPr id="8" name="Text 6"/>
          <p:cNvSpPr/>
          <p:nvPr/>
        </p:nvSpPr>
        <p:spPr>
          <a:xfrm>
            <a:off x="457200" y="1463040"/>
            <a:ext cx="4297680" cy="30175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Mean Shift is a non-parametric, density-based clustering algorithm. It works by iteratively shifting each data point toward the region of highest density (the mean of points within a bandwidth window). Points converge to local density maxima, which become cluster centers. It does not require specifying the number of clusters and can find arbitrary-shaped clusters.</a:t>
            </a:r>
            <a:endParaRPr lang="en-US" sz="1300" dirty="0"/>
          </a:p>
        </p:txBody>
      </p:sp>
      <p:sp>
        <p:nvSpPr>
          <p:cNvPr id="9" name="Shape 7"/>
          <p:cNvSpPr/>
          <p:nvPr/>
        </p:nvSpPr>
        <p:spPr>
          <a:xfrm>
            <a:off x="5120640" y="960120"/>
            <a:ext cx="3749040" cy="3840480"/>
          </a:xfrm>
          <a:prstGeom prst="roundRect">
            <a:avLst>
              <a:gd name="adj" fmla="val 2927"/>
            </a:avLst>
          </a:prstGeom>
          <a:solidFill>
            <a:srgbClr val="FFFFFF"/>
          </a:solidFill>
          <a:ln w="12700">
            <a:solidFill>
              <a:srgbClr val="D4E0F0"/>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303520" y="1051560"/>
            <a:ext cx="3383280" cy="320040"/>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Visual Diagram</a:t>
            </a:r>
            <a:endParaRPr lang="en-US" sz="1200" dirty="0"/>
          </a:p>
        </p:txBody>
      </p:sp>
      <p:sp>
        <p:nvSpPr>
          <p:cNvPr id="11" name="Shape 9"/>
          <p:cNvSpPr/>
          <p:nvPr/>
        </p:nvSpPr>
        <p:spPr>
          <a:xfrm>
            <a:off x="5486400" y="1783080"/>
            <a:ext cx="1463040" cy="1097280"/>
          </a:xfrm>
          <a:prstGeom prst="ellipse">
            <a:avLst/>
          </a:prstGeom>
          <a:solidFill>
            <a:srgbClr val="CCF2EC">
              <a:alpha val="80000"/>
            </a:srgbClr>
          </a:solidFill>
          <a:ln w="12700">
            <a:solidFill>
              <a:srgbClr val="C0D8D0"/>
            </a:solidFill>
            <a:prstDash val="solid"/>
          </a:ln>
        </p:spPr>
      </p:sp>
      <p:sp>
        <p:nvSpPr>
          <p:cNvPr id="12" name="Shape 10"/>
          <p:cNvSpPr/>
          <p:nvPr/>
        </p:nvSpPr>
        <p:spPr>
          <a:xfrm>
            <a:off x="6949440" y="2788920"/>
            <a:ext cx="1645920" cy="1280160"/>
          </a:xfrm>
          <a:prstGeom prst="ellipse">
            <a:avLst/>
          </a:prstGeom>
          <a:solidFill>
            <a:srgbClr val="FFF0C8">
              <a:alpha val="80000"/>
            </a:srgbClr>
          </a:solidFill>
          <a:ln w="12700">
            <a:solidFill>
              <a:srgbClr val="C0D8D0"/>
            </a:solidFill>
            <a:prstDash val="solid"/>
          </a:ln>
        </p:spPr>
      </p:sp>
      <p:sp>
        <p:nvSpPr>
          <p:cNvPr id="13" name="Shape 11"/>
          <p:cNvSpPr/>
          <p:nvPr/>
        </p:nvSpPr>
        <p:spPr>
          <a:xfrm>
            <a:off x="5760720" y="2057400"/>
            <a:ext cx="164592" cy="164592"/>
          </a:xfrm>
          <a:prstGeom prst="ellipse">
            <a:avLst/>
          </a:prstGeom>
          <a:solidFill>
            <a:srgbClr val="0E9F8E"/>
          </a:solidFill>
          <a:ln w="12700">
            <a:solidFill>
              <a:srgbClr val="0E9F8E"/>
            </a:solidFill>
            <a:prstDash val="solid"/>
          </a:ln>
        </p:spPr>
      </p:sp>
      <p:sp>
        <p:nvSpPr>
          <p:cNvPr id="14" name="Shape 12"/>
          <p:cNvSpPr/>
          <p:nvPr/>
        </p:nvSpPr>
        <p:spPr>
          <a:xfrm>
            <a:off x="6126480" y="1965960"/>
            <a:ext cx="164592" cy="164592"/>
          </a:xfrm>
          <a:prstGeom prst="ellipse">
            <a:avLst/>
          </a:prstGeom>
          <a:solidFill>
            <a:srgbClr val="0E9F8E"/>
          </a:solidFill>
          <a:ln w="12700">
            <a:solidFill>
              <a:srgbClr val="0E9F8E"/>
            </a:solidFill>
            <a:prstDash val="solid"/>
          </a:ln>
        </p:spPr>
      </p:sp>
      <p:sp>
        <p:nvSpPr>
          <p:cNvPr id="15" name="Shape 13"/>
          <p:cNvSpPr/>
          <p:nvPr/>
        </p:nvSpPr>
        <p:spPr>
          <a:xfrm>
            <a:off x="6492240" y="2240280"/>
            <a:ext cx="164592" cy="164592"/>
          </a:xfrm>
          <a:prstGeom prst="ellipse">
            <a:avLst/>
          </a:prstGeom>
          <a:solidFill>
            <a:srgbClr val="0E9F8E"/>
          </a:solidFill>
          <a:ln w="12700">
            <a:solidFill>
              <a:srgbClr val="0E9F8E"/>
            </a:solidFill>
            <a:prstDash val="solid"/>
          </a:ln>
        </p:spPr>
      </p:sp>
      <p:sp>
        <p:nvSpPr>
          <p:cNvPr id="16" name="Shape 14"/>
          <p:cNvSpPr/>
          <p:nvPr/>
        </p:nvSpPr>
        <p:spPr>
          <a:xfrm>
            <a:off x="5943600" y="2606040"/>
            <a:ext cx="164592" cy="164592"/>
          </a:xfrm>
          <a:prstGeom prst="ellipse">
            <a:avLst/>
          </a:prstGeom>
          <a:solidFill>
            <a:srgbClr val="0E9F8E"/>
          </a:solidFill>
          <a:ln w="12700">
            <a:solidFill>
              <a:srgbClr val="0E9F8E"/>
            </a:solidFill>
            <a:prstDash val="solid"/>
          </a:ln>
        </p:spPr>
      </p:sp>
      <p:sp>
        <p:nvSpPr>
          <p:cNvPr id="17" name="Shape 15"/>
          <p:cNvSpPr/>
          <p:nvPr/>
        </p:nvSpPr>
        <p:spPr>
          <a:xfrm>
            <a:off x="6400800" y="2697480"/>
            <a:ext cx="164592" cy="164592"/>
          </a:xfrm>
          <a:prstGeom prst="ellipse">
            <a:avLst/>
          </a:prstGeom>
          <a:solidFill>
            <a:srgbClr val="0E9F8E"/>
          </a:solidFill>
          <a:ln w="12700">
            <a:solidFill>
              <a:srgbClr val="0E9F8E"/>
            </a:solidFill>
            <a:prstDash val="solid"/>
          </a:ln>
        </p:spPr>
      </p:sp>
      <p:sp>
        <p:nvSpPr>
          <p:cNvPr id="18" name="Shape 16"/>
          <p:cNvSpPr/>
          <p:nvPr/>
        </p:nvSpPr>
        <p:spPr>
          <a:xfrm>
            <a:off x="7315200" y="3063240"/>
            <a:ext cx="164592" cy="164592"/>
          </a:xfrm>
          <a:prstGeom prst="ellipse">
            <a:avLst/>
          </a:prstGeom>
          <a:solidFill>
            <a:srgbClr val="F0A500"/>
          </a:solidFill>
          <a:ln w="12700">
            <a:solidFill>
              <a:srgbClr val="F0A500"/>
            </a:solidFill>
            <a:prstDash val="solid"/>
          </a:ln>
        </p:spPr>
      </p:sp>
      <p:sp>
        <p:nvSpPr>
          <p:cNvPr id="19" name="Shape 17"/>
          <p:cNvSpPr/>
          <p:nvPr/>
        </p:nvSpPr>
        <p:spPr>
          <a:xfrm>
            <a:off x="7772400" y="2971800"/>
            <a:ext cx="164592" cy="164592"/>
          </a:xfrm>
          <a:prstGeom prst="ellipse">
            <a:avLst/>
          </a:prstGeom>
          <a:solidFill>
            <a:srgbClr val="F0A500"/>
          </a:solidFill>
          <a:ln w="12700">
            <a:solidFill>
              <a:srgbClr val="F0A500"/>
            </a:solidFill>
            <a:prstDash val="solid"/>
          </a:ln>
        </p:spPr>
      </p:sp>
      <p:sp>
        <p:nvSpPr>
          <p:cNvPr id="20" name="Shape 18"/>
          <p:cNvSpPr/>
          <p:nvPr/>
        </p:nvSpPr>
        <p:spPr>
          <a:xfrm>
            <a:off x="8138160" y="3246120"/>
            <a:ext cx="164592" cy="164592"/>
          </a:xfrm>
          <a:prstGeom prst="ellipse">
            <a:avLst/>
          </a:prstGeom>
          <a:solidFill>
            <a:srgbClr val="F0A500"/>
          </a:solidFill>
          <a:ln w="12700">
            <a:solidFill>
              <a:srgbClr val="F0A500"/>
            </a:solidFill>
            <a:prstDash val="solid"/>
          </a:ln>
        </p:spPr>
      </p:sp>
      <p:sp>
        <p:nvSpPr>
          <p:cNvPr id="21" name="Shape 19"/>
          <p:cNvSpPr/>
          <p:nvPr/>
        </p:nvSpPr>
        <p:spPr>
          <a:xfrm>
            <a:off x="7498080" y="3611880"/>
            <a:ext cx="164592" cy="164592"/>
          </a:xfrm>
          <a:prstGeom prst="ellipse">
            <a:avLst/>
          </a:prstGeom>
          <a:solidFill>
            <a:srgbClr val="F0A500"/>
          </a:solidFill>
          <a:ln w="12700">
            <a:solidFill>
              <a:srgbClr val="F0A500"/>
            </a:solidFill>
            <a:prstDash val="solid"/>
          </a:ln>
        </p:spPr>
      </p:sp>
      <p:sp>
        <p:nvSpPr>
          <p:cNvPr id="22" name="Shape 20"/>
          <p:cNvSpPr/>
          <p:nvPr/>
        </p:nvSpPr>
        <p:spPr>
          <a:xfrm>
            <a:off x="7955280" y="3886200"/>
            <a:ext cx="164592" cy="164592"/>
          </a:xfrm>
          <a:prstGeom prst="ellipse">
            <a:avLst/>
          </a:prstGeom>
          <a:solidFill>
            <a:srgbClr val="F0A500"/>
          </a:solidFill>
          <a:ln w="12700">
            <a:solidFill>
              <a:srgbClr val="F0A500"/>
            </a:solidFill>
            <a:prstDash val="solid"/>
          </a:ln>
        </p:spPr>
      </p:sp>
      <p:sp>
        <p:nvSpPr>
          <p:cNvPr id="23" name="Shape 21"/>
          <p:cNvSpPr/>
          <p:nvPr/>
        </p:nvSpPr>
        <p:spPr>
          <a:xfrm>
            <a:off x="6053328" y="2167128"/>
            <a:ext cx="274320" cy="274320"/>
          </a:xfrm>
          <a:prstGeom prst="ellipse">
            <a:avLst/>
          </a:prstGeom>
          <a:solidFill>
            <a:srgbClr val="1A2B5F"/>
          </a:solidFill>
          <a:ln w="12700">
            <a:solidFill>
              <a:srgbClr val="1A2B5F"/>
            </a:solidFill>
            <a:prstDash val="solid"/>
          </a:ln>
        </p:spPr>
      </p:sp>
      <p:sp>
        <p:nvSpPr>
          <p:cNvPr id="24" name="Shape 22"/>
          <p:cNvSpPr/>
          <p:nvPr/>
        </p:nvSpPr>
        <p:spPr>
          <a:xfrm>
            <a:off x="7607808" y="3264408"/>
            <a:ext cx="274320" cy="274320"/>
          </a:xfrm>
          <a:prstGeom prst="ellipse">
            <a:avLst/>
          </a:prstGeom>
          <a:solidFill>
            <a:srgbClr val="1A2B5F"/>
          </a:solidFill>
          <a:ln w="12700">
            <a:solidFill>
              <a:srgbClr val="1A2B5F"/>
            </a:solidFill>
            <a:prstDash val="solid"/>
          </a:ln>
        </p:spPr>
      </p:sp>
      <p:sp>
        <p:nvSpPr>
          <p:cNvPr id="25" name="Text 23"/>
          <p:cNvSpPr/>
          <p:nvPr/>
        </p:nvSpPr>
        <p:spPr>
          <a:xfrm>
            <a:off x="5303520" y="4069080"/>
            <a:ext cx="3383280" cy="27432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 Mean Shift Direction</a:t>
            </a:r>
            <a:endParaRPr lang="en-US" sz="950" dirty="0"/>
          </a:p>
        </p:txBody>
      </p:sp>
      <p:sp>
        <p:nvSpPr>
          <p:cNvPr id="26" name="Text 24"/>
          <p:cNvSpPr/>
          <p:nvPr/>
        </p:nvSpPr>
        <p:spPr>
          <a:xfrm>
            <a:off x="5303520" y="4389120"/>
            <a:ext cx="338328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 Cluster Center</a:t>
            </a:r>
            <a:endParaRPr lang="en-US" sz="950" dirty="0"/>
          </a:p>
        </p:txBody>
      </p:sp>
      <p:sp>
        <p:nvSpPr>
          <p:cNvPr id="27" name="Text 25"/>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1 of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Mean Shift</a:t>
            </a:r>
            <a:endParaRPr lang="en-US" sz="3000" dirty="0"/>
          </a:p>
        </p:txBody>
      </p:sp>
      <p:sp>
        <p:nvSpPr>
          <p:cNvPr id="4" name="Shape 2"/>
          <p:cNvSpPr/>
          <p:nvPr/>
        </p:nvSpPr>
        <p:spPr>
          <a:xfrm>
            <a:off x="6583680" y="137160"/>
            <a:ext cx="2286000" cy="502920"/>
          </a:xfrm>
          <a:prstGeom prst="roundRect">
            <a:avLst>
              <a:gd name="adj" fmla="val 18182"/>
            </a:avLst>
          </a:prstGeom>
          <a:solidFill>
            <a:srgbClr val="F0A500"/>
          </a:solidFill>
          <a:ln w="12700">
            <a:solidFill>
              <a:srgbClr val="F0A500"/>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Pros &amp; Cons</a:t>
            </a:r>
            <a:endParaRPr lang="en-US" sz="1100" dirty="0"/>
          </a:p>
        </p:txBody>
      </p:sp>
      <p:sp>
        <p:nvSpPr>
          <p:cNvPr id="6" name="Shape 4"/>
          <p:cNvSpPr/>
          <p:nvPr/>
        </p:nvSpPr>
        <p:spPr>
          <a:xfrm>
            <a:off x="274320" y="960120"/>
            <a:ext cx="4206240" cy="3840480"/>
          </a:xfrm>
          <a:prstGeom prst="roundRect">
            <a:avLst>
              <a:gd name="adj" fmla="val 2857"/>
            </a:avLst>
          </a:prstGeom>
          <a:solidFill>
            <a:srgbClr val="FFFFFF"/>
          </a:solidFill>
          <a:ln w="19050">
            <a:solidFill>
              <a:srgbClr val="C3E6CB"/>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274320" y="960120"/>
            <a:ext cx="4206240" cy="457200"/>
          </a:xfrm>
          <a:prstGeom prst="roundRect">
            <a:avLst>
              <a:gd name="adj" fmla="val 24000"/>
            </a:avLst>
          </a:prstGeom>
          <a:solidFill>
            <a:srgbClr val="0E9F8E"/>
          </a:solidFill>
          <a:ln w="12700">
            <a:solidFill>
              <a:srgbClr val="0E9F8E"/>
            </a:solidFill>
            <a:prstDash val="solid"/>
          </a:ln>
        </p:spPr>
      </p:sp>
      <p:sp>
        <p:nvSpPr>
          <p:cNvPr id="8" name="Text 6"/>
          <p:cNvSpPr/>
          <p:nvPr/>
        </p:nvSpPr>
        <p:spPr>
          <a:xfrm>
            <a:off x="36576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Advantages</a:t>
            </a:r>
            <a:endParaRPr lang="en-US" sz="1400" dirty="0"/>
          </a:p>
        </p:txBody>
      </p:sp>
      <p:sp>
        <p:nvSpPr>
          <p:cNvPr id="9" name="Text 7"/>
          <p:cNvSpPr/>
          <p:nvPr/>
        </p:nvSpPr>
        <p:spPr>
          <a:xfrm>
            <a:off x="457200" y="1508760"/>
            <a:ext cx="3840480" cy="3108960"/>
          </a:xfrm>
          <a:prstGeom prst="rect">
            <a:avLst/>
          </a:prstGeom>
          <a:noFill/>
          <a:ln/>
        </p:spPr>
        <p:txBody>
          <a:bodyPr wrap="square" rtlCol="0" anchor="t"/>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No need to pre-specify the number of clusters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Finds arbitrary-shaped clusters, not just spherical</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Robust to outliers in low-dimensional data</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Model-free — no assumptions about cluster shape</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Automatically determines cluster count via bandwidth</a:t>
            </a:r>
            <a:endParaRPr lang="en-US" sz="1250" dirty="0"/>
          </a:p>
        </p:txBody>
      </p:sp>
      <p:sp>
        <p:nvSpPr>
          <p:cNvPr id="10" name="Shape 8"/>
          <p:cNvSpPr/>
          <p:nvPr/>
        </p:nvSpPr>
        <p:spPr>
          <a:xfrm>
            <a:off x="4663440" y="960120"/>
            <a:ext cx="4206240" cy="3840480"/>
          </a:xfrm>
          <a:prstGeom prst="roundRect">
            <a:avLst>
              <a:gd name="adj" fmla="val 2857"/>
            </a:avLst>
          </a:prstGeom>
          <a:solidFill>
            <a:srgbClr val="FFFFFF"/>
          </a:solidFill>
          <a:ln w="19050">
            <a:solidFill>
              <a:srgbClr val="F5C6CB"/>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663440" y="960120"/>
            <a:ext cx="4206240" cy="457200"/>
          </a:xfrm>
          <a:prstGeom prst="roundRect">
            <a:avLst>
              <a:gd name="adj" fmla="val 24000"/>
            </a:avLst>
          </a:prstGeom>
          <a:solidFill>
            <a:srgbClr val="E05A5A"/>
          </a:solidFill>
          <a:ln w="12700">
            <a:solidFill>
              <a:srgbClr val="E05A5A"/>
            </a:solidFill>
            <a:prstDash val="solid"/>
          </a:ln>
        </p:spPr>
      </p:sp>
      <p:sp>
        <p:nvSpPr>
          <p:cNvPr id="12" name="Text 10"/>
          <p:cNvSpPr/>
          <p:nvPr/>
        </p:nvSpPr>
        <p:spPr>
          <a:xfrm>
            <a:off x="475488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Disadvantages</a:t>
            </a:r>
            <a:endParaRPr lang="en-US" sz="1400" dirty="0"/>
          </a:p>
        </p:txBody>
      </p:sp>
      <p:sp>
        <p:nvSpPr>
          <p:cNvPr id="13" name="Text 11"/>
          <p:cNvSpPr/>
          <p:nvPr/>
        </p:nvSpPr>
        <p:spPr>
          <a:xfrm>
            <a:off x="4846320" y="1508760"/>
            <a:ext cx="3840480" cy="3108960"/>
          </a:xfrm>
          <a:prstGeom prst="rect">
            <a:avLst/>
          </a:prstGeom>
          <a:noFill/>
          <a:ln/>
        </p:spPr>
        <p:txBody>
          <a:bodyPr wrap="square" rtlCol="0" anchor="t"/>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Requires bandwidth (kernel size) selection which impacts results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Computationally expensive: O(n²) per iteration</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Slow convergence on large datasets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Struggles in high-dimensional spaces (curse of dimensionality)</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Not suitable for datasets with large variation in cluster density</a:t>
            </a:r>
            <a:endParaRPr lang="en-US" sz="1250" dirty="0"/>
          </a:p>
        </p:txBody>
      </p:sp>
      <p:sp>
        <p:nvSpPr>
          <p:cNvPr id="14" name="Text 12"/>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2 of 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Mean Shift</a:t>
            </a:r>
            <a:endParaRPr lang="en-US" sz="3000" dirty="0"/>
          </a:p>
        </p:txBody>
      </p:sp>
      <p:sp>
        <p:nvSpPr>
          <p:cNvPr id="4" name="Shape 2"/>
          <p:cNvSpPr/>
          <p:nvPr/>
        </p:nvSpPr>
        <p:spPr>
          <a:xfrm>
            <a:off x="6583680" y="137160"/>
            <a:ext cx="2286000" cy="502920"/>
          </a:xfrm>
          <a:prstGeom prst="roundRect">
            <a:avLst>
              <a:gd name="adj" fmla="val 18182"/>
            </a:avLst>
          </a:prstGeom>
          <a:solidFill>
            <a:srgbClr val="7C3AED"/>
          </a:solidFill>
          <a:ln w="12700">
            <a:solidFill>
              <a:srgbClr val="7C3AED"/>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 Code</a:t>
            </a:r>
            <a:endParaRPr lang="en-US" sz="1100" dirty="0"/>
          </a:p>
        </p:txBody>
      </p:sp>
      <p:sp>
        <p:nvSpPr>
          <p:cNvPr id="6" name="Shape 4"/>
          <p:cNvSpPr/>
          <p:nvPr/>
        </p:nvSpPr>
        <p:spPr>
          <a:xfrm>
            <a:off x="274320" y="960120"/>
            <a:ext cx="8595360" cy="3566160"/>
          </a:xfrm>
          <a:prstGeom prst="roundRect">
            <a:avLst>
              <a:gd name="adj" fmla="val 3077"/>
            </a:avLst>
          </a:prstGeom>
          <a:solidFill>
            <a:srgbClr val="1E293B"/>
          </a:solidFill>
          <a:ln w="12700">
            <a:solidFill>
              <a:srgbClr val="0D1929"/>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02920" y="1005840"/>
            <a:ext cx="8138160" cy="274320"/>
          </a:xfrm>
          <a:prstGeom prst="rect">
            <a:avLst/>
          </a:prstGeom>
          <a:noFill/>
          <a:ln/>
        </p:spPr>
        <p:txBody>
          <a:bodyPr wrap="square" rtlCol="0" anchor="ctr"/>
          <a:lstStyle/>
          <a:p>
            <a:pPr indent="0" marL="0">
              <a:buNone/>
            </a:pPr>
            <a:r>
              <a:rPr lang="en-US" sz="1100" i="1" dirty="0">
                <a:solidFill>
                  <a:srgbClr val="6B8CAE"/>
                </a:solidFill>
                <a:latin typeface="Courier New" pitchFamily="34" charset="0"/>
                <a:ea typeface="Courier New" pitchFamily="34" charset="-122"/>
                <a:cs typeface="Courier New" pitchFamily="34" charset="-120"/>
              </a:rPr>
              <a:t># Python Implementation</a:t>
            </a:r>
            <a:endParaRPr lang="en-US" sz="1100" dirty="0"/>
          </a:p>
        </p:txBody>
      </p:sp>
      <p:sp>
        <p:nvSpPr>
          <p:cNvPr id="8" name="Text 6"/>
          <p:cNvSpPr/>
          <p:nvPr/>
        </p:nvSpPr>
        <p:spPr>
          <a:xfrm>
            <a:off x="502920" y="1280160"/>
            <a:ext cx="8138160" cy="3108960"/>
          </a:xfrm>
          <a:prstGeom prst="rect">
            <a:avLst/>
          </a:prstGeom>
          <a:noFill/>
          <a:ln/>
        </p:spPr>
        <p:txBody>
          <a:bodyPr wrap="square" rtlCol="0" anchor="t"/>
          <a:lstStyle/>
          <a:p>
            <a:pPr indent="0" marL="0">
              <a:buNone/>
            </a:pPr>
            <a:r>
              <a:rPr lang="en-US" sz="1150" dirty="0">
                <a:solidFill>
                  <a:srgbClr val="A8D8A8"/>
                </a:solidFill>
                <a:latin typeface="Courier New" pitchFamily="34" charset="0"/>
                <a:ea typeface="Courier New" pitchFamily="34" charset="-122"/>
                <a:cs typeface="Courier New" pitchFamily="34" charset="-120"/>
              </a:rPr>
              <a:t>from sklearn.cluster import MeanShift, estimate_bandwidth</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from sklearn.datasets import make_blobs</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Generate data</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X, _ = make_blobs(n_samples=300, centers=3, random_state=42)</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Estimate bandwidth automatically</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bandwidth = estimate_bandwidth(X, quantile=0.2, n_samples=200)</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Create and fit model</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model = MeanShift(bandwidth=bandwidth, bin_seeding=True)</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model.fit(X)</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labels = model.labels_</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centers = model.cluster_centers_</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n_clusters = len(set(labels))</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print(f'Clusters found: {n_clusters}')</a:t>
            </a:r>
            <a:endParaRPr lang="en-US" sz="1150" dirty="0"/>
          </a:p>
        </p:txBody>
      </p:sp>
      <p:sp>
        <p:nvSpPr>
          <p:cNvPr id="9" name="Shape 7"/>
          <p:cNvSpPr/>
          <p:nvPr/>
        </p:nvSpPr>
        <p:spPr>
          <a:xfrm>
            <a:off x="274320" y="4663440"/>
            <a:ext cx="2651760" cy="365760"/>
          </a:xfrm>
          <a:prstGeom prst="roundRect">
            <a:avLst>
              <a:gd name="adj" fmla="val 25000"/>
            </a:avLst>
          </a:prstGeom>
          <a:solidFill>
            <a:srgbClr val="EDE9FE"/>
          </a:solidFill>
          <a:ln w="12700">
            <a:solidFill>
              <a:srgbClr val="C4B5FD"/>
            </a:solidFill>
            <a:prstDash val="solid"/>
          </a:ln>
        </p:spPr>
      </p:sp>
      <p:sp>
        <p:nvSpPr>
          <p:cNvPr id="10" name="Text 8"/>
          <p:cNvSpPr/>
          <p:nvPr/>
        </p:nvSpPr>
        <p:spPr>
          <a:xfrm>
            <a:off x="32004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estimate_bandwidth() auto-tunes</a:t>
            </a:r>
            <a:endParaRPr lang="en-US" sz="1050" dirty="0"/>
          </a:p>
        </p:txBody>
      </p:sp>
      <p:sp>
        <p:nvSpPr>
          <p:cNvPr id="11" name="Shape 9"/>
          <p:cNvSpPr/>
          <p:nvPr/>
        </p:nvSpPr>
        <p:spPr>
          <a:xfrm>
            <a:off x="3108960" y="4663440"/>
            <a:ext cx="2651760" cy="365760"/>
          </a:xfrm>
          <a:prstGeom prst="roundRect">
            <a:avLst>
              <a:gd name="adj" fmla="val 25000"/>
            </a:avLst>
          </a:prstGeom>
          <a:solidFill>
            <a:srgbClr val="EDE9FE"/>
          </a:solidFill>
          <a:ln w="12700">
            <a:solidFill>
              <a:srgbClr val="C4B5FD"/>
            </a:solidFill>
            <a:prstDash val="solid"/>
          </a:ln>
        </p:spPr>
      </p:sp>
      <p:sp>
        <p:nvSpPr>
          <p:cNvPr id="12" name="Text 10"/>
          <p:cNvSpPr/>
          <p:nvPr/>
        </p:nvSpPr>
        <p:spPr>
          <a:xfrm>
            <a:off x="315468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bin_seeding speeds computation</a:t>
            </a:r>
            <a:endParaRPr lang="en-US" sz="1050" dirty="0"/>
          </a:p>
        </p:txBody>
      </p:sp>
      <p:sp>
        <p:nvSpPr>
          <p:cNvPr id="13" name="Shape 11"/>
          <p:cNvSpPr/>
          <p:nvPr/>
        </p:nvSpPr>
        <p:spPr>
          <a:xfrm>
            <a:off x="5943600" y="4663440"/>
            <a:ext cx="2651760" cy="365760"/>
          </a:xfrm>
          <a:prstGeom prst="roundRect">
            <a:avLst>
              <a:gd name="adj" fmla="val 25000"/>
            </a:avLst>
          </a:prstGeom>
          <a:solidFill>
            <a:srgbClr val="EDE9FE"/>
          </a:solidFill>
          <a:ln w="12700">
            <a:solidFill>
              <a:srgbClr val="C4B5FD"/>
            </a:solidFill>
            <a:prstDash val="solid"/>
          </a:ln>
        </p:spPr>
      </p:sp>
      <p:sp>
        <p:nvSpPr>
          <p:cNvPr id="14" name="Text 12"/>
          <p:cNvSpPr/>
          <p:nvPr/>
        </p:nvSpPr>
        <p:spPr>
          <a:xfrm>
            <a:off x="598932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cluster_centers_ = density peaks</a:t>
            </a:r>
            <a:endParaRPr lang="en-US" sz="1050" dirty="0"/>
          </a:p>
        </p:txBody>
      </p:sp>
      <p:sp>
        <p:nvSpPr>
          <p:cNvPr id="15" name="Text 13"/>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3 of 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Spectral Clustering</a:t>
            </a:r>
            <a:endParaRPr lang="en-US" sz="3000" dirty="0"/>
          </a:p>
        </p:txBody>
      </p:sp>
      <p:sp>
        <p:nvSpPr>
          <p:cNvPr id="4" name="Shape 2"/>
          <p:cNvSpPr/>
          <p:nvPr/>
        </p:nvSpPr>
        <p:spPr>
          <a:xfrm>
            <a:off x="6583680" y="137160"/>
            <a:ext cx="2286000" cy="502920"/>
          </a:xfrm>
          <a:prstGeom prst="roundRect">
            <a:avLst>
              <a:gd name="adj" fmla="val 18182"/>
            </a:avLst>
          </a:prstGeom>
          <a:solidFill>
            <a:srgbClr val="0E9F8E"/>
          </a:solidFill>
          <a:ln w="12700">
            <a:solidFill>
              <a:srgbClr val="0E9F8E"/>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Definition &amp; Diagram</a:t>
            </a:r>
            <a:endParaRPr lang="en-US" sz="1100" dirty="0"/>
          </a:p>
        </p:txBody>
      </p:sp>
      <p:sp>
        <p:nvSpPr>
          <p:cNvPr id="6" name="Shape 4"/>
          <p:cNvSpPr/>
          <p:nvPr/>
        </p:nvSpPr>
        <p:spPr>
          <a:xfrm>
            <a:off x="274320" y="960120"/>
            <a:ext cx="4663440" cy="3840480"/>
          </a:xfrm>
          <a:prstGeom prst="roundRect">
            <a:avLst>
              <a:gd name="adj" fmla="val 2857"/>
            </a:avLst>
          </a:prstGeom>
          <a:solidFill>
            <a:srgbClr val="FFFFFF"/>
          </a:solidFill>
          <a:ln w="12700">
            <a:solidFill>
              <a:srgbClr val="D4E0F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57200" y="1051560"/>
            <a:ext cx="4297680" cy="365760"/>
          </a:xfrm>
          <a:prstGeom prst="rect">
            <a:avLst/>
          </a:prstGeom>
          <a:noFill/>
          <a:ln/>
        </p:spPr>
        <p:txBody>
          <a:bodyPr wrap="square" lIns="0" tIns="0" rIns="0" bIns="0" rtlCol="0" anchor="ctr"/>
          <a:lstStyle/>
          <a:p>
            <a:pPr indent="0" marL="0">
              <a:buNone/>
            </a:pPr>
            <a:r>
              <a:rPr lang="en-US" sz="1400" b="1" dirty="0">
                <a:solidFill>
                  <a:srgbClr val="0E9F8E"/>
                </a:solidFill>
                <a:latin typeface="Calibri" pitchFamily="34" charset="0"/>
                <a:ea typeface="Calibri" pitchFamily="34" charset="-122"/>
                <a:cs typeface="Calibri" pitchFamily="34" charset="-120"/>
              </a:rPr>
              <a:t>What is it?</a:t>
            </a:r>
            <a:endParaRPr lang="en-US" sz="1400" dirty="0"/>
          </a:p>
        </p:txBody>
      </p:sp>
      <p:sp>
        <p:nvSpPr>
          <p:cNvPr id="8" name="Text 6"/>
          <p:cNvSpPr/>
          <p:nvPr/>
        </p:nvSpPr>
        <p:spPr>
          <a:xfrm>
            <a:off x="457200" y="1463040"/>
            <a:ext cx="4297680" cy="30175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Spectral Clustering uses the eigenvalues (spectrum) of a similarity matrix to perform dimensionality reduction before clustering. It constructs a graph where data points are nodes and edges encode similarity, then uses the graph Laplacian's eigenvectors to embed data into a lower-dimensional space where clusters become more separable, and applies K-Means in that space.</a:t>
            </a:r>
            <a:endParaRPr lang="en-US" sz="1300" dirty="0"/>
          </a:p>
        </p:txBody>
      </p:sp>
      <p:sp>
        <p:nvSpPr>
          <p:cNvPr id="9" name="Shape 7"/>
          <p:cNvSpPr/>
          <p:nvPr/>
        </p:nvSpPr>
        <p:spPr>
          <a:xfrm>
            <a:off x="5120640" y="960120"/>
            <a:ext cx="3749040" cy="3840480"/>
          </a:xfrm>
          <a:prstGeom prst="roundRect">
            <a:avLst>
              <a:gd name="adj" fmla="val 2927"/>
            </a:avLst>
          </a:prstGeom>
          <a:solidFill>
            <a:srgbClr val="FFFFFF"/>
          </a:solidFill>
          <a:ln w="12700">
            <a:solidFill>
              <a:srgbClr val="D4E0F0"/>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303520" y="1051560"/>
            <a:ext cx="3383280" cy="320040"/>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Visual Diagram</a:t>
            </a:r>
            <a:endParaRPr lang="en-US" sz="1200" dirty="0"/>
          </a:p>
        </p:txBody>
      </p:sp>
      <p:sp>
        <p:nvSpPr>
          <p:cNvPr id="11" name="Shape 9"/>
          <p:cNvSpPr/>
          <p:nvPr/>
        </p:nvSpPr>
        <p:spPr>
          <a:xfrm>
            <a:off x="5303520" y="1965960"/>
            <a:ext cx="960120" cy="914400"/>
          </a:xfrm>
          <a:prstGeom prst="roundRect">
            <a:avLst>
              <a:gd name="adj" fmla="val 10000"/>
            </a:avLst>
          </a:prstGeom>
          <a:solidFill>
            <a:srgbClr val="CCF2EC"/>
          </a:solidFill>
          <a:ln w="19050">
            <a:solidFill>
              <a:srgbClr val="0E6B61"/>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5303520" y="1965960"/>
            <a:ext cx="960120" cy="914400"/>
          </a:xfrm>
          <a:prstGeom prst="rect">
            <a:avLst/>
          </a:prstGeom>
          <a:noFill/>
          <a:ln/>
        </p:spPr>
        <p:txBody>
          <a:bodyPr wrap="square" rtlCol="0" anchor="ctr"/>
          <a:lstStyle/>
          <a:p>
            <a:pPr algn="ctr" indent="0" marL="0">
              <a:buNone/>
            </a:pPr>
            <a:r>
              <a:rPr lang="en-US" sz="1100" b="1" dirty="0">
                <a:solidFill>
                  <a:srgbClr val="0E6B61"/>
                </a:solidFill>
                <a:latin typeface="Calibri" pitchFamily="34" charset="0"/>
                <a:ea typeface="Calibri" pitchFamily="34" charset="-122"/>
                <a:cs typeface="Calibri" pitchFamily="34" charset="-120"/>
              </a:rPr>
              <a:t>Data</a:t>
            </a:r>
            <a:endParaRPr lang="en-US" sz="1100" dirty="0"/>
          </a:p>
          <a:p>
            <a:pPr algn="ctr" indent="0" marL="0">
              <a:buNone/>
            </a:pPr>
            <a:r>
              <a:rPr lang="en-US" sz="1100" b="1" dirty="0">
                <a:solidFill>
                  <a:srgbClr val="0E6B61"/>
                </a:solidFill>
                <a:latin typeface="Calibri" pitchFamily="34" charset="0"/>
                <a:ea typeface="Calibri" pitchFamily="34" charset="-122"/>
                <a:cs typeface="Calibri" pitchFamily="34" charset="-120"/>
              </a:rPr>
              <a:t>Graph</a:t>
            </a:r>
            <a:endParaRPr lang="en-US" sz="1100" dirty="0"/>
          </a:p>
        </p:txBody>
      </p:sp>
      <p:sp>
        <p:nvSpPr>
          <p:cNvPr id="13" name="Shape 11"/>
          <p:cNvSpPr/>
          <p:nvPr/>
        </p:nvSpPr>
        <p:spPr>
          <a:xfrm>
            <a:off x="6263640" y="2423160"/>
            <a:ext cx="411480" cy="0"/>
          </a:xfrm>
          <a:prstGeom prst="line">
            <a:avLst/>
          </a:prstGeom>
          <a:noFill/>
          <a:ln w="25400">
            <a:solidFill>
              <a:srgbClr val="1A2B5F"/>
            </a:solidFill>
            <a:prstDash val="solid"/>
          </a:ln>
        </p:spPr>
      </p:sp>
      <p:sp>
        <p:nvSpPr>
          <p:cNvPr id="14" name="Text 12"/>
          <p:cNvSpPr/>
          <p:nvPr/>
        </p:nvSpPr>
        <p:spPr>
          <a:xfrm>
            <a:off x="6263640" y="2286000"/>
            <a:ext cx="411480" cy="274320"/>
          </a:xfrm>
          <a:prstGeom prst="rect">
            <a:avLst/>
          </a:prstGeom>
          <a:noFill/>
          <a:ln/>
        </p:spPr>
        <p:txBody>
          <a:bodyPr wrap="square" rtlCol="0" anchor="ctr"/>
          <a:lstStyle/>
          <a:p>
            <a:pPr algn="ctr" indent="0" marL="0">
              <a:buNone/>
            </a:pPr>
            <a:r>
              <a:rPr lang="en-US" sz="1400" b="1" dirty="0">
                <a:solidFill>
                  <a:srgbClr val="1A2B5F"/>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6675120" y="1965960"/>
            <a:ext cx="960120" cy="914400"/>
          </a:xfrm>
          <a:prstGeom prst="roundRect">
            <a:avLst>
              <a:gd name="adj" fmla="val 10000"/>
            </a:avLst>
          </a:prstGeom>
          <a:solidFill>
            <a:srgbClr val="FFF0C8"/>
          </a:solidFill>
          <a:ln w="19050">
            <a:solidFill>
              <a:srgbClr val="8B6400"/>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6675120" y="1965960"/>
            <a:ext cx="960120" cy="914400"/>
          </a:xfrm>
          <a:prstGeom prst="rect">
            <a:avLst/>
          </a:prstGeom>
          <a:noFill/>
          <a:ln/>
        </p:spPr>
        <p:txBody>
          <a:bodyPr wrap="square" rtlCol="0" anchor="ctr"/>
          <a:lstStyle/>
          <a:p>
            <a:pPr algn="ctr" indent="0" marL="0">
              <a:buNone/>
            </a:pPr>
            <a:r>
              <a:rPr lang="en-US" sz="1100" b="1" dirty="0">
                <a:solidFill>
                  <a:srgbClr val="8B6400"/>
                </a:solidFill>
                <a:latin typeface="Calibri" pitchFamily="34" charset="0"/>
                <a:ea typeface="Calibri" pitchFamily="34" charset="-122"/>
                <a:cs typeface="Calibri" pitchFamily="34" charset="-120"/>
              </a:rPr>
              <a:t>Eigen-</a:t>
            </a:r>
            <a:endParaRPr lang="en-US" sz="1100" dirty="0"/>
          </a:p>
          <a:p>
            <a:pPr algn="ctr" indent="0" marL="0">
              <a:buNone/>
            </a:pPr>
            <a:r>
              <a:rPr lang="en-US" sz="1100" b="1" dirty="0">
                <a:solidFill>
                  <a:srgbClr val="8B6400"/>
                </a:solidFill>
                <a:latin typeface="Calibri" pitchFamily="34" charset="0"/>
                <a:ea typeface="Calibri" pitchFamily="34" charset="-122"/>
                <a:cs typeface="Calibri" pitchFamily="34" charset="-120"/>
              </a:rPr>
              <a:t>vectors</a:t>
            </a:r>
            <a:endParaRPr lang="en-US" sz="1100" dirty="0"/>
          </a:p>
        </p:txBody>
      </p:sp>
      <p:sp>
        <p:nvSpPr>
          <p:cNvPr id="17" name="Shape 15"/>
          <p:cNvSpPr/>
          <p:nvPr/>
        </p:nvSpPr>
        <p:spPr>
          <a:xfrm>
            <a:off x="7635240" y="2423160"/>
            <a:ext cx="411480" cy="0"/>
          </a:xfrm>
          <a:prstGeom prst="line">
            <a:avLst/>
          </a:prstGeom>
          <a:noFill/>
          <a:ln w="25400">
            <a:solidFill>
              <a:srgbClr val="1A2B5F"/>
            </a:solidFill>
            <a:prstDash val="solid"/>
          </a:ln>
        </p:spPr>
      </p:sp>
      <p:sp>
        <p:nvSpPr>
          <p:cNvPr id="18" name="Text 16"/>
          <p:cNvSpPr/>
          <p:nvPr/>
        </p:nvSpPr>
        <p:spPr>
          <a:xfrm>
            <a:off x="7635240" y="2286000"/>
            <a:ext cx="411480" cy="274320"/>
          </a:xfrm>
          <a:prstGeom prst="rect">
            <a:avLst/>
          </a:prstGeom>
          <a:noFill/>
          <a:ln/>
        </p:spPr>
        <p:txBody>
          <a:bodyPr wrap="square" rtlCol="0" anchor="ctr"/>
          <a:lstStyle/>
          <a:p>
            <a:pPr algn="ctr" indent="0" marL="0">
              <a:buNone/>
            </a:pPr>
            <a:r>
              <a:rPr lang="en-US" sz="1400" b="1" dirty="0">
                <a:solidFill>
                  <a:srgbClr val="1A2B5F"/>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8046720" y="1965960"/>
            <a:ext cx="960120" cy="914400"/>
          </a:xfrm>
          <a:prstGeom prst="roundRect">
            <a:avLst>
              <a:gd name="adj" fmla="val 10000"/>
            </a:avLst>
          </a:prstGeom>
          <a:solidFill>
            <a:srgbClr val="E8D5FB"/>
          </a:solidFill>
          <a:ln w="19050">
            <a:solidFill>
              <a:srgbClr val="5B21B6"/>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8046720" y="1965960"/>
            <a:ext cx="960120" cy="914400"/>
          </a:xfrm>
          <a:prstGeom prst="rect">
            <a:avLst/>
          </a:prstGeom>
          <a:noFill/>
          <a:ln/>
        </p:spPr>
        <p:txBody>
          <a:bodyPr wrap="square" rtlCol="0" anchor="ctr"/>
          <a:lstStyle/>
          <a:p>
            <a:pPr algn="ctr" indent="0" marL="0">
              <a:buNone/>
            </a:pPr>
            <a:r>
              <a:rPr lang="en-US" sz="1100" b="1" dirty="0">
                <a:solidFill>
                  <a:srgbClr val="5B21B6"/>
                </a:solidFill>
                <a:latin typeface="Calibri" pitchFamily="34" charset="0"/>
                <a:ea typeface="Calibri" pitchFamily="34" charset="-122"/>
                <a:cs typeface="Calibri" pitchFamily="34" charset="-120"/>
              </a:rPr>
              <a:t>Cluster</a:t>
            </a:r>
            <a:endParaRPr lang="en-US" sz="1100" dirty="0"/>
          </a:p>
          <a:p>
            <a:pPr algn="ctr" indent="0" marL="0">
              <a:buNone/>
            </a:pPr>
            <a:r>
              <a:rPr lang="en-US" sz="1100" b="1" dirty="0">
                <a:solidFill>
                  <a:srgbClr val="5B21B6"/>
                </a:solidFill>
                <a:latin typeface="Calibri" pitchFamily="34" charset="0"/>
                <a:ea typeface="Calibri" pitchFamily="34" charset="-122"/>
                <a:cs typeface="Calibri" pitchFamily="34" charset="-120"/>
              </a:rPr>
              <a:t>Space</a:t>
            </a:r>
            <a:endParaRPr lang="en-US" sz="1100" dirty="0"/>
          </a:p>
        </p:txBody>
      </p:sp>
      <p:sp>
        <p:nvSpPr>
          <p:cNvPr id="21" name="Shape 19"/>
          <p:cNvSpPr/>
          <p:nvPr/>
        </p:nvSpPr>
        <p:spPr>
          <a:xfrm>
            <a:off x="5760720" y="3337560"/>
            <a:ext cx="457200" cy="91440"/>
          </a:xfrm>
          <a:prstGeom prst="line">
            <a:avLst/>
          </a:prstGeom>
          <a:noFill/>
          <a:ln w="19050">
            <a:solidFill>
              <a:srgbClr val="AABBCC"/>
            </a:solidFill>
            <a:prstDash val="solid"/>
          </a:ln>
        </p:spPr>
      </p:sp>
      <p:sp>
        <p:nvSpPr>
          <p:cNvPr id="22" name="Shape 20"/>
          <p:cNvSpPr/>
          <p:nvPr/>
        </p:nvSpPr>
        <p:spPr>
          <a:xfrm>
            <a:off x="6217920" y="3429000"/>
            <a:ext cx="-228600" cy="411480"/>
          </a:xfrm>
          <a:prstGeom prst="line">
            <a:avLst/>
          </a:prstGeom>
          <a:noFill/>
          <a:ln w="19050">
            <a:solidFill>
              <a:srgbClr val="AABBCC"/>
            </a:solidFill>
            <a:prstDash val="solid"/>
          </a:ln>
        </p:spPr>
      </p:sp>
      <p:sp>
        <p:nvSpPr>
          <p:cNvPr id="23" name="Shape 21"/>
          <p:cNvSpPr/>
          <p:nvPr/>
        </p:nvSpPr>
        <p:spPr>
          <a:xfrm>
            <a:off x="5760720" y="3337560"/>
            <a:ext cx="228600" cy="502920"/>
          </a:xfrm>
          <a:prstGeom prst="line">
            <a:avLst/>
          </a:prstGeom>
          <a:noFill/>
          <a:ln w="19050">
            <a:solidFill>
              <a:srgbClr val="AABBCC"/>
            </a:solidFill>
            <a:prstDash val="solid"/>
          </a:ln>
        </p:spPr>
      </p:sp>
      <p:sp>
        <p:nvSpPr>
          <p:cNvPr id="24" name="Shape 22"/>
          <p:cNvSpPr/>
          <p:nvPr/>
        </p:nvSpPr>
        <p:spPr>
          <a:xfrm>
            <a:off x="6858000" y="3429000"/>
            <a:ext cx="182880" cy="457200"/>
          </a:xfrm>
          <a:prstGeom prst="line">
            <a:avLst/>
          </a:prstGeom>
          <a:noFill/>
          <a:ln w="19050">
            <a:solidFill>
              <a:srgbClr val="AABBCC"/>
            </a:solidFill>
            <a:prstDash val="solid"/>
          </a:ln>
        </p:spPr>
      </p:sp>
      <p:sp>
        <p:nvSpPr>
          <p:cNvPr id="25" name="Shape 23"/>
          <p:cNvSpPr/>
          <p:nvPr/>
        </p:nvSpPr>
        <p:spPr>
          <a:xfrm>
            <a:off x="6217920" y="3429000"/>
            <a:ext cx="640080" cy="0"/>
          </a:xfrm>
          <a:prstGeom prst="line">
            <a:avLst/>
          </a:prstGeom>
          <a:noFill/>
          <a:ln w="19050">
            <a:solidFill>
              <a:srgbClr val="AABBCC"/>
            </a:solidFill>
            <a:prstDash val="dash"/>
          </a:ln>
        </p:spPr>
      </p:sp>
      <p:sp>
        <p:nvSpPr>
          <p:cNvPr id="26" name="Shape 24"/>
          <p:cNvSpPr/>
          <p:nvPr/>
        </p:nvSpPr>
        <p:spPr>
          <a:xfrm>
            <a:off x="5669280" y="3246120"/>
            <a:ext cx="201168" cy="201168"/>
          </a:xfrm>
          <a:prstGeom prst="ellipse">
            <a:avLst/>
          </a:prstGeom>
          <a:solidFill>
            <a:srgbClr val="0E9F8E"/>
          </a:solidFill>
          <a:ln w="12700">
            <a:solidFill>
              <a:srgbClr val="0E9F8E"/>
            </a:solidFill>
            <a:prstDash val="solid"/>
          </a:ln>
        </p:spPr>
      </p:sp>
      <p:sp>
        <p:nvSpPr>
          <p:cNvPr id="27" name="Shape 25"/>
          <p:cNvSpPr/>
          <p:nvPr/>
        </p:nvSpPr>
        <p:spPr>
          <a:xfrm>
            <a:off x="6126480" y="3337560"/>
            <a:ext cx="201168" cy="201168"/>
          </a:xfrm>
          <a:prstGeom prst="ellipse">
            <a:avLst/>
          </a:prstGeom>
          <a:solidFill>
            <a:srgbClr val="0E9F8E"/>
          </a:solidFill>
          <a:ln w="12700">
            <a:solidFill>
              <a:srgbClr val="0E9F8E"/>
            </a:solidFill>
            <a:prstDash val="solid"/>
          </a:ln>
        </p:spPr>
      </p:sp>
      <p:sp>
        <p:nvSpPr>
          <p:cNvPr id="28" name="Shape 26"/>
          <p:cNvSpPr/>
          <p:nvPr/>
        </p:nvSpPr>
        <p:spPr>
          <a:xfrm>
            <a:off x="5897880" y="3749040"/>
            <a:ext cx="201168" cy="201168"/>
          </a:xfrm>
          <a:prstGeom prst="ellipse">
            <a:avLst/>
          </a:prstGeom>
          <a:solidFill>
            <a:srgbClr val="0E9F8E"/>
          </a:solidFill>
          <a:ln w="12700">
            <a:solidFill>
              <a:srgbClr val="0E9F8E"/>
            </a:solidFill>
            <a:prstDash val="solid"/>
          </a:ln>
        </p:spPr>
      </p:sp>
      <p:sp>
        <p:nvSpPr>
          <p:cNvPr id="29" name="Shape 27"/>
          <p:cNvSpPr/>
          <p:nvPr/>
        </p:nvSpPr>
        <p:spPr>
          <a:xfrm>
            <a:off x="6766560" y="3337560"/>
            <a:ext cx="201168" cy="201168"/>
          </a:xfrm>
          <a:prstGeom prst="ellipse">
            <a:avLst/>
          </a:prstGeom>
          <a:solidFill>
            <a:srgbClr val="F0A500"/>
          </a:solidFill>
          <a:ln w="12700">
            <a:solidFill>
              <a:srgbClr val="F0A500"/>
            </a:solidFill>
            <a:prstDash val="solid"/>
          </a:ln>
        </p:spPr>
      </p:sp>
      <p:sp>
        <p:nvSpPr>
          <p:cNvPr id="30" name="Shape 28"/>
          <p:cNvSpPr/>
          <p:nvPr/>
        </p:nvSpPr>
        <p:spPr>
          <a:xfrm>
            <a:off x="6949440" y="3794760"/>
            <a:ext cx="201168" cy="201168"/>
          </a:xfrm>
          <a:prstGeom prst="ellipse">
            <a:avLst/>
          </a:prstGeom>
          <a:solidFill>
            <a:srgbClr val="F0A500"/>
          </a:solidFill>
          <a:ln w="12700">
            <a:solidFill>
              <a:srgbClr val="F0A500"/>
            </a:solidFill>
            <a:prstDash val="solid"/>
          </a:ln>
        </p:spPr>
      </p:sp>
      <p:sp>
        <p:nvSpPr>
          <p:cNvPr id="31" name="Text 29"/>
          <p:cNvSpPr/>
          <p:nvPr/>
        </p:nvSpPr>
        <p:spPr>
          <a:xfrm>
            <a:off x="5394960" y="3931920"/>
            <a:ext cx="1828800" cy="27432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Similarity Graph</a:t>
            </a:r>
            <a:endParaRPr lang="en-US" sz="950" dirty="0"/>
          </a:p>
        </p:txBody>
      </p:sp>
      <p:sp>
        <p:nvSpPr>
          <p:cNvPr id="32" name="Shape 30"/>
          <p:cNvSpPr/>
          <p:nvPr/>
        </p:nvSpPr>
        <p:spPr>
          <a:xfrm>
            <a:off x="7315200" y="3337560"/>
            <a:ext cx="146304" cy="146304"/>
          </a:xfrm>
          <a:prstGeom prst="ellipse">
            <a:avLst/>
          </a:prstGeom>
          <a:solidFill>
            <a:srgbClr val="0E9F8E"/>
          </a:solidFill>
          <a:ln w="12700">
            <a:solidFill>
              <a:srgbClr val="0E9F8E"/>
            </a:solidFill>
            <a:prstDash val="solid"/>
          </a:ln>
        </p:spPr>
      </p:sp>
      <p:sp>
        <p:nvSpPr>
          <p:cNvPr id="33" name="Shape 31"/>
          <p:cNvSpPr/>
          <p:nvPr/>
        </p:nvSpPr>
        <p:spPr>
          <a:xfrm>
            <a:off x="7498080" y="3520440"/>
            <a:ext cx="146304" cy="146304"/>
          </a:xfrm>
          <a:prstGeom prst="ellipse">
            <a:avLst/>
          </a:prstGeom>
          <a:solidFill>
            <a:srgbClr val="0E9F8E"/>
          </a:solidFill>
          <a:ln w="12700">
            <a:solidFill>
              <a:srgbClr val="0E9F8E"/>
            </a:solidFill>
            <a:prstDash val="solid"/>
          </a:ln>
        </p:spPr>
      </p:sp>
      <p:sp>
        <p:nvSpPr>
          <p:cNvPr id="34" name="Shape 32"/>
          <p:cNvSpPr/>
          <p:nvPr/>
        </p:nvSpPr>
        <p:spPr>
          <a:xfrm>
            <a:off x="7360920" y="3657600"/>
            <a:ext cx="146304" cy="146304"/>
          </a:xfrm>
          <a:prstGeom prst="ellipse">
            <a:avLst/>
          </a:prstGeom>
          <a:solidFill>
            <a:srgbClr val="0E9F8E"/>
          </a:solidFill>
          <a:ln w="12700">
            <a:solidFill>
              <a:srgbClr val="0E9F8E"/>
            </a:solidFill>
            <a:prstDash val="solid"/>
          </a:ln>
        </p:spPr>
      </p:sp>
      <p:sp>
        <p:nvSpPr>
          <p:cNvPr id="35" name="Shape 33"/>
          <p:cNvSpPr/>
          <p:nvPr/>
        </p:nvSpPr>
        <p:spPr>
          <a:xfrm>
            <a:off x="7955280" y="3703320"/>
            <a:ext cx="146304" cy="146304"/>
          </a:xfrm>
          <a:prstGeom prst="ellipse">
            <a:avLst/>
          </a:prstGeom>
          <a:solidFill>
            <a:srgbClr val="F0A500"/>
          </a:solidFill>
          <a:ln w="12700">
            <a:solidFill>
              <a:srgbClr val="F0A500"/>
            </a:solidFill>
            <a:prstDash val="solid"/>
          </a:ln>
        </p:spPr>
      </p:sp>
      <p:sp>
        <p:nvSpPr>
          <p:cNvPr id="36" name="Shape 34"/>
          <p:cNvSpPr/>
          <p:nvPr/>
        </p:nvSpPr>
        <p:spPr>
          <a:xfrm>
            <a:off x="8138160" y="3566160"/>
            <a:ext cx="146304" cy="146304"/>
          </a:xfrm>
          <a:prstGeom prst="ellipse">
            <a:avLst/>
          </a:prstGeom>
          <a:solidFill>
            <a:srgbClr val="F0A500"/>
          </a:solidFill>
          <a:ln w="12700">
            <a:solidFill>
              <a:srgbClr val="F0A500"/>
            </a:solidFill>
            <a:prstDash val="solid"/>
          </a:ln>
        </p:spPr>
      </p:sp>
      <p:sp>
        <p:nvSpPr>
          <p:cNvPr id="37" name="Shape 35"/>
          <p:cNvSpPr/>
          <p:nvPr/>
        </p:nvSpPr>
        <p:spPr>
          <a:xfrm>
            <a:off x="8046720" y="3840480"/>
            <a:ext cx="146304" cy="146304"/>
          </a:xfrm>
          <a:prstGeom prst="ellipse">
            <a:avLst/>
          </a:prstGeom>
          <a:solidFill>
            <a:srgbClr val="F0A500"/>
          </a:solidFill>
          <a:ln w="12700">
            <a:solidFill>
              <a:srgbClr val="F0A500"/>
            </a:solidFill>
            <a:prstDash val="solid"/>
          </a:ln>
        </p:spPr>
      </p:sp>
      <p:sp>
        <p:nvSpPr>
          <p:cNvPr id="38" name="Text 36"/>
          <p:cNvSpPr/>
          <p:nvPr/>
        </p:nvSpPr>
        <p:spPr>
          <a:xfrm>
            <a:off x="7223760" y="3931920"/>
            <a:ext cx="1828800" cy="27432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Eigenspace Clusters</a:t>
            </a:r>
            <a:endParaRPr lang="en-US" sz="950" dirty="0"/>
          </a:p>
        </p:txBody>
      </p:sp>
      <p:sp>
        <p:nvSpPr>
          <p:cNvPr id="39" name="Text 37"/>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1 of 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Spectral Clustering</a:t>
            </a:r>
            <a:endParaRPr lang="en-US" sz="3000" dirty="0"/>
          </a:p>
        </p:txBody>
      </p:sp>
      <p:sp>
        <p:nvSpPr>
          <p:cNvPr id="4" name="Shape 2"/>
          <p:cNvSpPr/>
          <p:nvPr/>
        </p:nvSpPr>
        <p:spPr>
          <a:xfrm>
            <a:off x="6583680" y="137160"/>
            <a:ext cx="2286000" cy="502920"/>
          </a:xfrm>
          <a:prstGeom prst="roundRect">
            <a:avLst>
              <a:gd name="adj" fmla="val 18182"/>
            </a:avLst>
          </a:prstGeom>
          <a:solidFill>
            <a:srgbClr val="F0A500"/>
          </a:solidFill>
          <a:ln w="12700">
            <a:solidFill>
              <a:srgbClr val="F0A500"/>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Pros &amp; Cons</a:t>
            </a:r>
            <a:endParaRPr lang="en-US" sz="1100" dirty="0"/>
          </a:p>
        </p:txBody>
      </p:sp>
      <p:sp>
        <p:nvSpPr>
          <p:cNvPr id="6" name="Shape 4"/>
          <p:cNvSpPr/>
          <p:nvPr/>
        </p:nvSpPr>
        <p:spPr>
          <a:xfrm>
            <a:off x="274320" y="960120"/>
            <a:ext cx="4206240" cy="3840480"/>
          </a:xfrm>
          <a:prstGeom prst="roundRect">
            <a:avLst>
              <a:gd name="adj" fmla="val 2857"/>
            </a:avLst>
          </a:prstGeom>
          <a:solidFill>
            <a:srgbClr val="FFFFFF"/>
          </a:solidFill>
          <a:ln w="19050">
            <a:solidFill>
              <a:srgbClr val="C3E6CB"/>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274320" y="960120"/>
            <a:ext cx="4206240" cy="457200"/>
          </a:xfrm>
          <a:prstGeom prst="roundRect">
            <a:avLst>
              <a:gd name="adj" fmla="val 24000"/>
            </a:avLst>
          </a:prstGeom>
          <a:solidFill>
            <a:srgbClr val="0E9F8E"/>
          </a:solidFill>
          <a:ln w="12700">
            <a:solidFill>
              <a:srgbClr val="0E9F8E"/>
            </a:solidFill>
            <a:prstDash val="solid"/>
          </a:ln>
        </p:spPr>
      </p:sp>
      <p:sp>
        <p:nvSpPr>
          <p:cNvPr id="8" name="Text 6"/>
          <p:cNvSpPr/>
          <p:nvPr/>
        </p:nvSpPr>
        <p:spPr>
          <a:xfrm>
            <a:off x="36576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Advantages</a:t>
            </a:r>
            <a:endParaRPr lang="en-US" sz="1400" dirty="0"/>
          </a:p>
        </p:txBody>
      </p:sp>
      <p:sp>
        <p:nvSpPr>
          <p:cNvPr id="9" name="Text 7"/>
          <p:cNvSpPr/>
          <p:nvPr/>
        </p:nvSpPr>
        <p:spPr>
          <a:xfrm>
            <a:off x="457200" y="1508760"/>
            <a:ext cx="3840480" cy="3108960"/>
          </a:xfrm>
          <a:prstGeom prst="rect">
            <a:avLst/>
          </a:prstGeom>
          <a:noFill/>
          <a:ln/>
        </p:spPr>
        <p:txBody>
          <a:bodyPr wrap="square" rtlCol="0" anchor="t"/>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Can detect clusters with complex, non-convex shapes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Effective on graph-structured or manifold data</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Works well when cluster boundaries are unclear in input space</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Flexible: different affinity/kernel functions can be used</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Theoretically well-grounded (spectral graph theory)</a:t>
            </a:r>
            <a:endParaRPr lang="en-US" sz="1250" dirty="0"/>
          </a:p>
        </p:txBody>
      </p:sp>
      <p:sp>
        <p:nvSpPr>
          <p:cNvPr id="10" name="Shape 8"/>
          <p:cNvSpPr/>
          <p:nvPr/>
        </p:nvSpPr>
        <p:spPr>
          <a:xfrm>
            <a:off x="4663440" y="960120"/>
            <a:ext cx="4206240" cy="3840480"/>
          </a:xfrm>
          <a:prstGeom prst="roundRect">
            <a:avLst>
              <a:gd name="adj" fmla="val 2857"/>
            </a:avLst>
          </a:prstGeom>
          <a:solidFill>
            <a:srgbClr val="FFFFFF"/>
          </a:solidFill>
          <a:ln w="19050">
            <a:solidFill>
              <a:srgbClr val="F5C6CB"/>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663440" y="960120"/>
            <a:ext cx="4206240" cy="457200"/>
          </a:xfrm>
          <a:prstGeom prst="roundRect">
            <a:avLst>
              <a:gd name="adj" fmla="val 24000"/>
            </a:avLst>
          </a:prstGeom>
          <a:solidFill>
            <a:srgbClr val="E05A5A"/>
          </a:solidFill>
          <a:ln w="12700">
            <a:solidFill>
              <a:srgbClr val="E05A5A"/>
            </a:solidFill>
            <a:prstDash val="solid"/>
          </a:ln>
        </p:spPr>
      </p:sp>
      <p:sp>
        <p:nvSpPr>
          <p:cNvPr id="12" name="Text 10"/>
          <p:cNvSpPr/>
          <p:nvPr/>
        </p:nvSpPr>
        <p:spPr>
          <a:xfrm>
            <a:off x="475488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Disadvantages</a:t>
            </a:r>
            <a:endParaRPr lang="en-US" sz="1400" dirty="0"/>
          </a:p>
        </p:txBody>
      </p:sp>
      <p:sp>
        <p:nvSpPr>
          <p:cNvPr id="13" name="Text 11"/>
          <p:cNvSpPr/>
          <p:nvPr/>
        </p:nvSpPr>
        <p:spPr>
          <a:xfrm>
            <a:off x="4846320" y="1508760"/>
            <a:ext cx="3840480" cy="3108960"/>
          </a:xfrm>
          <a:prstGeom prst="rect">
            <a:avLst/>
          </a:prstGeom>
          <a:noFill/>
          <a:ln/>
        </p:spPr>
        <p:txBody>
          <a:bodyPr wrap="square" rtlCol="0" anchor="t"/>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Must specify the number of clusters (n_clusters) upfront</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Computationally expensive for large datasets: O(n³)</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Memory-intensive due to the full affinity matrix</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Sensitive to the choice of affinity/kernel hyperparameters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Does not scale well beyond ~10,000 data points</a:t>
            </a:r>
            <a:endParaRPr lang="en-US" sz="1250" dirty="0"/>
          </a:p>
        </p:txBody>
      </p:sp>
      <p:sp>
        <p:nvSpPr>
          <p:cNvPr id="14" name="Text 12"/>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2 of 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Spectral Clustering</a:t>
            </a:r>
            <a:endParaRPr lang="en-US" sz="3000" dirty="0"/>
          </a:p>
        </p:txBody>
      </p:sp>
      <p:sp>
        <p:nvSpPr>
          <p:cNvPr id="4" name="Shape 2"/>
          <p:cNvSpPr/>
          <p:nvPr/>
        </p:nvSpPr>
        <p:spPr>
          <a:xfrm>
            <a:off x="6583680" y="137160"/>
            <a:ext cx="2286000" cy="502920"/>
          </a:xfrm>
          <a:prstGeom prst="roundRect">
            <a:avLst>
              <a:gd name="adj" fmla="val 18182"/>
            </a:avLst>
          </a:prstGeom>
          <a:solidFill>
            <a:srgbClr val="7C3AED"/>
          </a:solidFill>
          <a:ln w="12700">
            <a:solidFill>
              <a:srgbClr val="7C3AED"/>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 Code</a:t>
            </a:r>
            <a:endParaRPr lang="en-US" sz="1100" dirty="0"/>
          </a:p>
        </p:txBody>
      </p:sp>
      <p:sp>
        <p:nvSpPr>
          <p:cNvPr id="6" name="Shape 4"/>
          <p:cNvSpPr/>
          <p:nvPr/>
        </p:nvSpPr>
        <p:spPr>
          <a:xfrm>
            <a:off x="274320" y="960120"/>
            <a:ext cx="8595360" cy="3566160"/>
          </a:xfrm>
          <a:prstGeom prst="roundRect">
            <a:avLst>
              <a:gd name="adj" fmla="val 3077"/>
            </a:avLst>
          </a:prstGeom>
          <a:solidFill>
            <a:srgbClr val="1E293B"/>
          </a:solidFill>
          <a:ln w="12700">
            <a:solidFill>
              <a:srgbClr val="0D1929"/>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02920" y="1005840"/>
            <a:ext cx="8138160" cy="274320"/>
          </a:xfrm>
          <a:prstGeom prst="rect">
            <a:avLst/>
          </a:prstGeom>
          <a:noFill/>
          <a:ln/>
        </p:spPr>
        <p:txBody>
          <a:bodyPr wrap="square" rtlCol="0" anchor="ctr"/>
          <a:lstStyle/>
          <a:p>
            <a:pPr indent="0" marL="0">
              <a:buNone/>
            </a:pPr>
            <a:r>
              <a:rPr lang="en-US" sz="1100" i="1" dirty="0">
                <a:solidFill>
                  <a:srgbClr val="6B8CAE"/>
                </a:solidFill>
                <a:latin typeface="Courier New" pitchFamily="34" charset="0"/>
                <a:ea typeface="Courier New" pitchFamily="34" charset="-122"/>
                <a:cs typeface="Courier New" pitchFamily="34" charset="-120"/>
              </a:rPr>
              <a:t># Python Implementation</a:t>
            </a:r>
            <a:endParaRPr lang="en-US" sz="1100" dirty="0"/>
          </a:p>
        </p:txBody>
      </p:sp>
      <p:sp>
        <p:nvSpPr>
          <p:cNvPr id="8" name="Text 6"/>
          <p:cNvSpPr/>
          <p:nvPr/>
        </p:nvSpPr>
        <p:spPr>
          <a:xfrm>
            <a:off x="502920" y="1280160"/>
            <a:ext cx="8138160" cy="3108960"/>
          </a:xfrm>
          <a:prstGeom prst="rect">
            <a:avLst/>
          </a:prstGeom>
          <a:noFill/>
          <a:ln/>
        </p:spPr>
        <p:txBody>
          <a:bodyPr wrap="square" rtlCol="0" anchor="t"/>
          <a:lstStyle/>
          <a:p>
            <a:pPr indent="0" marL="0">
              <a:buNone/>
            </a:pPr>
            <a:r>
              <a:rPr lang="en-US" sz="1150" dirty="0">
                <a:solidFill>
                  <a:srgbClr val="A8D8A8"/>
                </a:solidFill>
                <a:latin typeface="Courier New" pitchFamily="34" charset="0"/>
                <a:ea typeface="Courier New" pitchFamily="34" charset="-122"/>
                <a:cs typeface="Courier New" pitchFamily="34" charset="-120"/>
              </a:rPr>
              <a:t>from sklearn.cluster import SpectralClustering</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from sklearn.datasets import make_moons</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import numpy as np</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Make non-linearly separable data (moons)</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X, y = make_moons(n_samples=300, noise=0.05, random_state=42)</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Spectral Clustering</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model = SpectralClustering(</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n_clusters=2,</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affinity='rbf',   # Radial Basis Function kernel</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gamma=1.0,</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random_state=42</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labels = model.fit_predict(X)</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print('Unique clusters:', np.unique(labels))</a:t>
            </a:r>
            <a:endParaRPr lang="en-US" sz="1150" dirty="0"/>
          </a:p>
        </p:txBody>
      </p:sp>
      <p:sp>
        <p:nvSpPr>
          <p:cNvPr id="9" name="Shape 7"/>
          <p:cNvSpPr/>
          <p:nvPr/>
        </p:nvSpPr>
        <p:spPr>
          <a:xfrm>
            <a:off x="274320" y="4663440"/>
            <a:ext cx="2651760" cy="365760"/>
          </a:xfrm>
          <a:prstGeom prst="roundRect">
            <a:avLst>
              <a:gd name="adj" fmla="val 25000"/>
            </a:avLst>
          </a:prstGeom>
          <a:solidFill>
            <a:srgbClr val="EDE9FE"/>
          </a:solidFill>
          <a:ln w="12700">
            <a:solidFill>
              <a:srgbClr val="C4B5FD"/>
            </a:solidFill>
            <a:prstDash val="solid"/>
          </a:ln>
        </p:spPr>
      </p:sp>
      <p:sp>
        <p:nvSpPr>
          <p:cNvPr id="10" name="Text 8"/>
          <p:cNvSpPr/>
          <p:nvPr/>
        </p:nvSpPr>
        <p:spPr>
          <a:xfrm>
            <a:off x="32004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affinity='rbf' handles non-linear data</a:t>
            </a:r>
            <a:endParaRPr lang="en-US" sz="1050" dirty="0"/>
          </a:p>
        </p:txBody>
      </p:sp>
      <p:sp>
        <p:nvSpPr>
          <p:cNvPr id="11" name="Shape 9"/>
          <p:cNvSpPr/>
          <p:nvPr/>
        </p:nvSpPr>
        <p:spPr>
          <a:xfrm>
            <a:off x="3108960" y="4663440"/>
            <a:ext cx="2651760" cy="365760"/>
          </a:xfrm>
          <a:prstGeom prst="roundRect">
            <a:avLst>
              <a:gd name="adj" fmla="val 25000"/>
            </a:avLst>
          </a:prstGeom>
          <a:solidFill>
            <a:srgbClr val="EDE9FE"/>
          </a:solidFill>
          <a:ln w="12700">
            <a:solidFill>
              <a:srgbClr val="C4B5FD"/>
            </a:solidFill>
            <a:prstDash val="solid"/>
          </a:ln>
        </p:spPr>
      </p:sp>
      <p:sp>
        <p:nvSpPr>
          <p:cNvPr id="12" name="Text 10"/>
          <p:cNvSpPr/>
          <p:nvPr/>
        </p:nvSpPr>
        <p:spPr>
          <a:xfrm>
            <a:off x="315468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gamma controls kernel width</a:t>
            </a:r>
            <a:endParaRPr lang="en-US" sz="1050" dirty="0"/>
          </a:p>
        </p:txBody>
      </p:sp>
      <p:sp>
        <p:nvSpPr>
          <p:cNvPr id="13" name="Shape 11"/>
          <p:cNvSpPr/>
          <p:nvPr/>
        </p:nvSpPr>
        <p:spPr>
          <a:xfrm>
            <a:off x="5943600" y="4663440"/>
            <a:ext cx="2651760" cy="365760"/>
          </a:xfrm>
          <a:prstGeom prst="roundRect">
            <a:avLst>
              <a:gd name="adj" fmla="val 25000"/>
            </a:avLst>
          </a:prstGeom>
          <a:solidFill>
            <a:srgbClr val="EDE9FE"/>
          </a:solidFill>
          <a:ln w="12700">
            <a:solidFill>
              <a:srgbClr val="C4B5FD"/>
            </a:solidFill>
            <a:prstDash val="solid"/>
          </a:ln>
        </p:spPr>
      </p:sp>
      <p:sp>
        <p:nvSpPr>
          <p:cNvPr id="14" name="Text 12"/>
          <p:cNvSpPr/>
          <p:nvPr/>
        </p:nvSpPr>
        <p:spPr>
          <a:xfrm>
            <a:off x="598932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fit_predict() in one step</a:t>
            </a:r>
            <a:endParaRPr lang="en-US" sz="1050" dirty="0"/>
          </a:p>
        </p:txBody>
      </p:sp>
      <p:sp>
        <p:nvSpPr>
          <p:cNvPr id="15" name="Text 13"/>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3 of 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DBSCAN</a:t>
            </a:r>
            <a:endParaRPr lang="en-US" sz="3000" dirty="0"/>
          </a:p>
        </p:txBody>
      </p:sp>
      <p:sp>
        <p:nvSpPr>
          <p:cNvPr id="4" name="Shape 2"/>
          <p:cNvSpPr/>
          <p:nvPr/>
        </p:nvSpPr>
        <p:spPr>
          <a:xfrm>
            <a:off x="6583680" y="137160"/>
            <a:ext cx="2286000" cy="502920"/>
          </a:xfrm>
          <a:prstGeom prst="roundRect">
            <a:avLst>
              <a:gd name="adj" fmla="val 18182"/>
            </a:avLst>
          </a:prstGeom>
          <a:solidFill>
            <a:srgbClr val="0E9F8E"/>
          </a:solidFill>
          <a:ln w="12700">
            <a:solidFill>
              <a:srgbClr val="0E9F8E"/>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Definition &amp; Diagram</a:t>
            </a:r>
            <a:endParaRPr lang="en-US" sz="1100" dirty="0"/>
          </a:p>
        </p:txBody>
      </p:sp>
      <p:sp>
        <p:nvSpPr>
          <p:cNvPr id="6" name="Shape 4"/>
          <p:cNvSpPr/>
          <p:nvPr/>
        </p:nvSpPr>
        <p:spPr>
          <a:xfrm>
            <a:off x="274320" y="960120"/>
            <a:ext cx="4663440" cy="3840480"/>
          </a:xfrm>
          <a:prstGeom prst="roundRect">
            <a:avLst>
              <a:gd name="adj" fmla="val 2857"/>
            </a:avLst>
          </a:prstGeom>
          <a:solidFill>
            <a:srgbClr val="FFFFFF"/>
          </a:solidFill>
          <a:ln w="12700">
            <a:solidFill>
              <a:srgbClr val="D4E0F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57200" y="1051560"/>
            <a:ext cx="4297680" cy="365760"/>
          </a:xfrm>
          <a:prstGeom prst="rect">
            <a:avLst/>
          </a:prstGeom>
          <a:noFill/>
          <a:ln/>
        </p:spPr>
        <p:txBody>
          <a:bodyPr wrap="square" lIns="0" tIns="0" rIns="0" bIns="0" rtlCol="0" anchor="ctr"/>
          <a:lstStyle/>
          <a:p>
            <a:pPr indent="0" marL="0">
              <a:buNone/>
            </a:pPr>
            <a:r>
              <a:rPr lang="en-US" sz="1400" b="1" dirty="0">
                <a:solidFill>
                  <a:srgbClr val="0E9F8E"/>
                </a:solidFill>
                <a:latin typeface="Calibri" pitchFamily="34" charset="0"/>
                <a:ea typeface="Calibri" pitchFamily="34" charset="-122"/>
                <a:cs typeface="Calibri" pitchFamily="34" charset="-120"/>
              </a:rPr>
              <a:t>What is it?</a:t>
            </a:r>
            <a:endParaRPr lang="en-US" sz="1400" dirty="0"/>
          </a:p>
        </p:txBody>
      </p:sp>
      <p:sp>
        <p:nvSpPr>
          <p:cNvPr id="8" name="Text 6"/>
          <p:cNvSpPr/>
          <p:nvPr/>
        </p:nvSpPr>
        <p:spPr>
          <a:xfrm>
            <a:off x="457200" y="1463040"/>
            <a:ext cx="4297680" cy="30175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DBSCAN (Density-Based Spatial Clustering of Applications with Noise) groups points that are closely packed together while marking points in low-density regions as outliers. It defines clusters based on two parameters: epsilon (ε) — the neighborhood radius — and min_samples — the minimum points needed within ε to form a dense region. Points are classified as core, border, or noise.</a:t>
            </a:r>
            <a:endParaRPr lang="en-US" sz="1300" dirty="0"/>
          </a:p>
        </p:txBody>
      </p:sp>
      <p:sp>
        <p:nvSpPr>
          <p:cNvPr id="9" name="Shape 7"/>
          <p:cNvSpPr/>
          <p:nvPr/>
        </p:nvSpPr>
        <p:spPr>
          <a:xfrm>
            <a:off x="5120640" y="960120"/>
            <a:ext cx="3749040" cy="3840480"/>
          </a:xfrm>
          <a:prstGeom prst="roundRect">
            <a:avLst>
              <a:gd name="adj" fmla="val 2927"/>
            </a:avLst>
          </a:prstGeom>
          <a:solidFill>
            <a:srgbClr val="FFFFFF"/>
          </a:solidFill>
          <a:ln w="12700">
            <a:solidFill>
              <a:srgbClr val="D4E0F0"/>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303520" y="1051560"/>
            <a:ext cx="3383280" cy="320040"/>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Visual Diagram</a:t>
            </a:r>
            <a:endParaRPr lang="en-US" sz="1200" dirty="0"/>
          </a:p>
        </p:txBody>
      </p:sp>
      <p:sp>
        <p:nvSpPr>
          <p:cNvPr id="11" name="Shape 9"/>
          <p:cNvSpPr/>
          <p:nvPr/>
        </p:nvSpPr>
        <p:spPr>
          <a:xfrm>
            <a:off x="5230368" y="1618488"/>
            <a:ext cx="694944" cy="694944"/>
          </a:xfrm>
          <a:prstGeom prst="ellipse">
            <a:avLst/>
          </a:prstGeom>
          <a:solidFill>
            <a:srgbClr val="CCF2EC">
              <a:alpha val="60000"/>
            </a:srgbClr>
          </a:solidFill>
          <a:ln w="12700">
            <a:solidFill>
              <a:srgbClr val="0E9F8E"/>
            </a:solidFill>
            <a:prstDash val="dash"/>
          </a:ln>
        </p:spPr>
      </p:sp>
      <p:sp>
        <p:nvSpPr>
          <p:cNvPr id="12" name="Text 10"/>
          <p:cNvSpPr/>
          <p:nvPr/>
        </p:nvSpPr>
        <p:spPr>
          <a:xfrm>
            <a:off x="5833872" y="1554480"/>
            <a:ext cx="228600" cy="228600"/>
          </a:xfrm>
          <a:prstGeom prst="rect">
            <a:avLst/>
          </a:prstGeom>
          <a:noFill/>
          <a:ln/>
        </p:spPr>
        <p:txBody>
          <a:bodyPr wrap="square" rtlCol="0" anchor="ctr"/>
          <a:lstStyle/>
          <a:p>
            <a:pPr indent="0" marL="0">
              <a:buNone/>
            </a:pPr>
            <a:r>
              <a:rPr lang="en-US" sz="1100" i="1" dirty="0">
                <a:solidFill>
                  <a:srgbClr val="0E9F8E"/>
                </a:solidFill>
                <a:latin typeface="Calibri" pitchFamily="34" charset="0"/>
                <a:ea typeface="Calibri" pitchFamily="34" charset="-122"/>
                <a:cs typeface="Calibri" pitchFamily="34" charset="-120"/>
              </a:rPr>
              <a:t>ε</a:t>
            </a:r>
            <a:endParaRPr lang="en-US" sz="1100" dirty="0"/>
          </a:p>
        </p:txBody>
      </p:sp>
      <p:sp>
        <p:nvSpPr>
          <p:cNvPr id="13" name="Shape 11"/>
          <p:cNvSpPr/>
          <p:nvPr/>
        </p:nvSpPr>
        <p:spPr>
          <a:xfrm>
            <a:off x="5577840" y="1965960"/>
            <a:ext cx="201168" cy="201168"/>
          </a:xfrm>
          <a:prstGeom prst="ellipse">
            <a:avLst/>
          </a:prstGeom>
          <a:solidFill>
            <a:srgbClr val="0E9F8E"/>
          </a:solidFill>
          <a:ln w="25400">
            <a:solidFill>
              <a:srgbClr val="0E9F8E"/>
            </a:solidFill>
            <a:prstDash val="solid"/>
          </a:ln>
        </p:spPr>
      </p:sp>
      <p:sp>
        <p:nvSpPr>
          <p:cNvPr id="14" name="Shape 12"/>
          <p:cNvSpPr/>
          <p:nvPr/>
        </p:nvSpPr>
        <p:spPr>
          <a:xfrm>
            <a:off x="5943600" y="1874520"/>
            <a:ext cx="201168" cy="201168"/>
          </a:xfrm>
          <a:prstGeom prst="ellipse">
            <a:avLst/>
          </a:prstGeom>
          <a:solidFill>
            <a:srgbClr val="A8D8D0"/>
          </a:solidFill>
          <a:ln w="12700">
            <a:solidFill>
              <a:srgbClr val="0E9F8E"/>
            </a:solidFill>
            <a:prstDash val="solid"/>
          </a:ln>
        </p:spPr>
      </p:sp>
      <p:sp>
        <p:nvSpPr>
          <p:cNvPr id="15" name="Shape 13"/>
          <p:cNvSpPr/>
          <p:nvPr/>
        </p:nvSpPr>
        <p:spPr>
          <a:xfrm>
            <a:off x="5760720" y="2331720"/>
            <a:ext cx="201168" cy="201168"/>
          </a:xfrm>
          <a:prstGeom prst="ellipse">
            <a:avLst/>
          </a:prstGeom>
          <a:solidFill>
            <a:srgbClr val="A8D8D0"/>
          </a:solidFill>
          <a:ln w="12700">
            <a:solidFill>
              <a:srgbClr val="0E9F8E"/>
            </a:solidFill>
            <a:prstDash val="solid"/>
          </a:ln>
        </p:spPr>
      </p:sp>
      <p:sp>
        <p:nvSpPr>
          <p:cNvPr id="16" name="Shape 14"/>
          <p:cNvSpPr/>
          <p:nvPr/>
        </p:nvSpPr>
        <p:spPr>
          <a:xfrm>
            <a:off x="6126480" y="2240280"/>
            <a:ext cx="201168" cy="201168"/>
          </a:xfrm>
          <a:prstGeom prst="ellipse">
            <a:avLst/>
          </a:prstGeom>
          <a:solidFill>
            <a:srgbClr val="A8D8D0"/>
          </a:solidFill>
          <a:ln w="12700">
            <a:solidFill>
              <a:srgbClr val="0E9F8E"/>
            </a:solidFill>
            <a:prstDash val="solid"/>
          </a:ln>
        </p:spPr>
      </p:sp>
      <p:sp>
        <p:nvSpPr>
          <p:cNvPr id="17" name="Shape 15"/>
          <p:cNvSpPr/>
          <p:nvPr/>
        </p:nvSpPr>
        <p:spPr>
          <a:xfrm>
            <a:off x="5852160" y="2697480"/>
            <a:ext cx="201168" cy="201168"/>
          </a:xfrm>
          <a:prstGeom prst="ellipse">
            <a:avLst/>
          </a:prstGeom>
          <a:solidFill>
            <a:srgbClr val="A8D8D0"/>
          </a:solidFill>
          <a:ln w="12700">
            <a:solidFill>
              <a:srgbClr val="0E9F8E"/>
            </a:solidFill>
            <a:prstDash val="solid"/>
          </a:ln>
        </p:spPr>
      </p:sp>
      <p:sp>
        <p:nvSpPr>
          <p:cNvPr id="18" name="Shape 16"/>
          <p:cNvSpPr/>
          <p:nvPr/>
        </p:nvSpPr>
        <p:spPr>
          <a:xfrm>
            <a:off x="6309360" y="2606040"/>
            <a:ext cx="201168" cy="201168"/>
          </a:xfrm>
          <a:prstGeom prst="ellipse">
            <a:avLst/>
          </a:prstGeom>
          <a:solidFill>
            <a:srgbClr val="A8D8D0"/>
          </a:solidFill>
          <a:ln w="12700">
            <a:solidFill>
              <a:srgbClr val="0E9F8E"/>
            </a:solidFill>
            <a:prstDash val="solid"/>
          </a:ln>
        </p:spPr>
      </p:sp>
      <p:sp>
        <p:nvSpPr>
          <p:cNvPr id="19" name="Shape 17"/>
          <p:cNvSpPr/>
          <p:nvPr/>
        </p:nvSpPr>
        <p:spPr>
          <a:xfrm>
            <a:off x="7315200" y="3063240"/>
            <a:ext cx="201168" cy="201168"/>
          </a:xfrm>
          <a:prstGeom prst="ellipse">
            <a:avLst/>
          </a:prstGeom>
          <a:solidFill>
            <a:srgbClr val="F0A500"/>
          </a:solidFill>
          <a:ln w="12700">
            <a:solidFill>
              <a:srgbClr val="C88000"/>
            </a:solidFill>
            <a:prstDash val="solid"/>
          </a:ln>
        </p:spPr>
      </p:sp>
      <p:sp>
        <p:nvSpPr>
          <p:cNvPr id="20" name="Shape 18"/>
          <p:cNvSpPr/>
          <p:nvPr/>
        </p:nvSpPr>
        <p:spPr>
          <a:xfrm>
            <a:off x="7680960" y="2880360"/>
            <a:ext cx="201168" cy="201168"/>
          </a:xfrm>
          <a:prstGeom prst="ellipse">
            <a:avLst/>
          </a:prstGeom>
          <a:solidFill>
            <a:srgbClr val="F0A500"/>
          </a:solidFill>
          <a:ln w="12700">
            <a:solidFill>
              <a:srgbClr val="C88000"/>
            </a:solidFill>
            <a:prstDash val="solid"/>
          </a:ln>
        </p:spPr>
      </p:sp>
      <p:sp>
        <p:nvSpPr>
          <p:cNvPr id="21" name="Shape 19"/>
          <p:cNvSpPr/>
          <p:nvPr/>
        </p:nvSpPr>
        <p:spPr>
          <a:xfrm>
            <a:off x="7863840" y="3337560"/>
            <a:ext cx="201168" cy="201168"/>
          </a:xfrm>
          <a:prstGeom prst="ellipse">
            <a:avLst/>
          </a:prstGeom>
          <a:solidFill>
            <a:srgbClr val="F0A500"/>
          </a:solidFill>
          <a:ln w="12700">
            <a:solidFill>
              <a:srgbClr val="C88000"/>
            </a:solidFill>
            <a:prstDash val="solid"/>
          </a:ln>
        </p:spPr>
      </p:sp>
      <p:sp>
        <p:nvSpPr>
          <p:cNvPr id="22" name="Shape 20"/>
          <p:cNvSpPr/>
          <p:nvPr/>
        </p:nvSpPr>
        <p:spPr>
          <a:xfrm>
            <a:off x="7498080" y="3520440"/>
            <a:ext cx="201168" cy="201168"/>
          </a:xfrm>
          <a:prstGeom prst="ellipse">
            <a:avLst/>
          </a:prstGeom>
          <a:solidFill>
            <a:srgbClr val="F0A500"/>
          </a:solidFill>
          <a:ln w="12700">
            <a:solidFill>
              <a:srgbClr val="C88000"/>
            </a:solidFill>
            <a:prstDash val="solid"/>
          </a:ln>
        </p:spPr>
      </p:sp>
      <p:sp>
        <p:nvSpPr>
          <p:cNvPr id="23" name="Shape 21"/>
          <p:cNvSpPr/>
          <p:nvPr/>
        </p:nvSpPr>
        <p:spPr>
          <a:xfrm>
            <a:off x="8046720" y="3154680"/>
            <a:ext cx="201168" cy="201168"/>
          </a:xfrm>
          <a:prstGeom prst="ellipse">
            <a:avLst/>
          </a:prstGeom>
          <a:solidFill>
            <a:srgbClr val="F0A500"/>
          </a:solidFill>
          <a:ln w="12700">
            <a:solidFill>
              <a:srgbClr val="C88000"/>
            </a:solidFill>
            <a:prstDash val="solid"/>
          </a:ln>
        </p:spPr>
      </p:sp>
      <p:sp>
        <p:nvSpPr>
          <p:cNvPr id="24" name="Shape 22"/>
          <p:cNvSpPr/>
          <p:nvPr/>
        </p:nvSpPr>
        <p:spPr>
          <a:xfrm>
            <a:off x="7772400" y="3794760"/>
            <a:ext cx="201168" cy="201168"/>
          </a:xfrm>
          <a:prstGeom prst="ellipse">
            <a:avLst/>
          </a:prstGeom>
          <a:solidFill>
            <a:srgbClr val="F0A500"/>
          </a:solidFill>
          <a:ln w="12700">
            <a:solidFill>
              <a:srgbClr val="C88000"/>
            </a:solidFill>
            <a:prstDash val="solid"/>
          </a:ln>
        </p:spPr>
      </p:sp>
      <p:sp>
        <p:nvSpPr>
          <p:cNvPr id="25" name="Shape 23"/>
          <p:cNvSpPr/>
          <p:nvPr/>
        </p:nvSpPr>
        <p:spPr>
          <a:xfrm>
            <a:off x="6858000" y="1783080"/>
            <a:ext cx="201168" cy="201168"/>
          </a:xfrm>
          <a:prstGeom prst="ellipse">
            <a:avLst/>
          </a:prstGeom>
          <a:solidFill>
            <a:srgbClr val="F5F5F5"/>
          </a:solidFill>
          <a:ln w="25400">
            <a:solidFill>
              <a:srgbClr val="E05A5A"/>
            </a:solidFill>
            <a:prstDash val="solid"/>
          </a:ln>
        </p:spPr>
      </p:sp>
      <p:sp>
        <p:nvSpPr>
          <p:cNvPr id="26" name="Text 24"/>
          <p:cNvSpPr/>
          <p:nvPr/>
        </p:nvSpPr>
        <p:spPr>
          <a:xfrm>
            <a:off x="6839712" y="1764792"/>
            <a:ext cx="219456" cy="219456"/>
          </a:xfrm>
          <a:prstGeom prst="rect">
            <a:avLst/>
          </a:prstGeom>
          <a:noFill/>
          <a:ln/>
        </p:spPr>
        <p:txBody>
          <a:bodyPr wrap="square" lIns="0" tIns="0" rIns="0" bIns="0" rtlCol="0" anchor="ctr"/>
          <a:lstStyle/>
          <a:p>
            <a:pPr algn="ctr" indent="0" marL="0">
              <a:buNone/>
            </a:pPr>
            <a:r>
              <a:rPr lang="en-US" sz="1100" b="1" dirty="0">
                <a:solidFill>
                  <a:srgbClr val="E05A5A"/>
                </a:solidFill>
                <a:latin typeface="Calibri" pitchFamily="34" charset="0"/>
                <a:ea typeface="Calibri" pitchFamily="34" charset="-122"/>
                <a:cs typeface="Calibri" pitchFamily="34" charset="-120"/>
              </a:rPr>
              <a:t>✕</a:t>
            </a:r>
            <a:endParaRPr lang="en-US" sz="1100" dirty="0"/>
          </a:p>
        </p:txBody>
      </p:sp>
      <p:sp>
        <p:nvSpPr>
          <p:cNvPr id="27" name="Shape 25"/>
          <p:cNvSpPr/>
          <p:nvPr/>
        </p:nvSpPr>
        <p:spPr>
          <a:xfrm>
            <a:off x="5394960" y="3977640"/>
            <a:ext cx="201168" cy="201168"/>
          </a:xfrm>
          <a:prstGeom prst="ellipse">
            <a:avLst/>
          </a:prstGeom>
          <a:solidFill>
            <a:srgbClr val="F5F5F5"/>
          </a:solidFill>
          <a:ln w="25400">
            <a:solidFill>
              <a:srgbClr val="E05A5A"/>
            </a:solidFill>
            <a:prstDash val="solid"/>
          </a:ln>
        </p:spPr>
      </p:sp>
      <p:sp>
        <p:nvSpPr>
          <p:cNvPr id="28" name="Text 26"/>
          <p:cNvSpPr/>
          <p:nvPr/>
        </p:nvSpPr>
        <p:spPr>
          <a:xfrm>
            <a:off x="5376672" y="3959352"/>
            <a:ext cx="219456" cy="219456"/>
          </a:xfrm>
          <a:prstGeom prst="rect">
            <a:avLst/>
          </a:prstGeom>
          <a:noFill/>
          <a:ln/>
        </p:spPr>
        <p:txBody>
          <a:bodyPr wrap="square" lIns="0" tIns="0" rIns="0" bIns="0" rtlCol="0" anchor="ctr"/>
          <a:lstStyle/>
          <a:p>
            <a:pPr algn="ctr" indent="0" marL="0">
              <a:buNone/>
            </a:pPr>
            <a:r>
              <a:rPr lang="en-US" sz="1100" b="1" dirty="0">
                <a:solidFill>
                  <a:srgbClr val="E05A5A"/>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8321040" y="2057400"/>
            <a:ext cx="201168" cy="201168"/>
          </a:xfrm>
          <a:prstGeom prst="ellipse">
            <a:avLst/>
          </a:prstGeom>
          <a:solidFill>
            <a:srgbClr val="F5F5F5"/>
          </a:solidFill>
          <a:ln w="25400">
            <a:solidFill>
              <a:srgbClr val="E05A5A"/>
            </a:solidFill>
            <a:prstDash val="solid"/>
          </a:ln>
        </p:spPr>
      </p:sp>
      <p:sp>
        <p:nvSpPr>
          <p:cNvPr id="30" name="Text 28"/>
          <p:cNvSpPr/>
          <p:nvPr/>
        </p:nvSpPr>
        <p:spPr>
          <a:xfrm>
            <a:off x="8302752" y="2039112"/>
            <a:ext cx="219456" cy="219456"/>
          </a:xfrm>
          <a:prstGeom prst="rect">
            <a:avLst/>
          </a:prstGeom>
          <a:noFill/>
          <a:ln/>
        </p:spPr>
        <p:txBody>
          <a:bodyPr wrap="square" lIns="0" tIns="0" rIns="0" bIns="0" rtlCol="0" anchor="ctr"/>
          <a:lstStyle/>
          <a:p>
            <a:pPr algn="ctr" indent="0" marL="0">
              <a:buNone/>
            </a:pPr>
            <a:r>
              <a:rPr lang="en-US" sz="1100" b="1" dirty="0">
                <a:solidFill>
                  <a:srgbClr val="E05A5A"/>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5303520" y="3922776"/>
            <a:ext cx="182880" cy="182880"/>
          </a:xfrm>
          <a:prstGeom prst="ellipse">
            <a:avLst/>
          </a:prstGeom>
          <a:solidFill>
            <a:srgbClr val="0E9F8E"/>
          </a:solidFill>
          <a:ln w="12700">
            <a:solidFill>
              <a:srgbClr val="0E9F8E"/>
            </a:solidFill>
            <a:prstDash val="solid"/>
          </a:ln>
        </p:spPr>
      </p:sp>
      <p:sp>
        <p:nvSpPr>
          <p:cNvPr id="32" name="Text 30"/>
          <p:cNvSpPr/>
          <p:nvPr/>
        </p:nvSpPr>
        <p:spPr>
          <a:xfrm>
            <a:off x="5559552" y="3886200"/>
            <a:ext cx="118872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Core Pt</a:t>
            </a:r>
            <a:endParaRPr lang="en-US" sz="950" dirty="0"/>
          </a:p>
        </p:txBody>
      </p:sp>
      <p:sp>
        <p:nvSpPr>
          <p:cNvPr id="33" name="Shape 31"/>
          <p:cNvSpPr/>
          <p:nvPr/>
        </p:nvSpPr>
        <p:spPr>
          <a:xfrm>
            <a:off x="5303520" y="4215384"/>
            <a:ext cx="182880" cy="182880"/>
          </a:xfrm>
          <a:prstGeom prst="ellipse">
            <a:avLst/>
          </a:prstGeom>
          <a:solidFill>
            <a:srgbClr val="A8D8D0"/>
          </a:solidFill>
          <a:ln w="12700">
            <a:solidFill>
              <a:srgbClr val="A8D8D0"/>
            </a:solidFill>
            <a:prstDash val="solid"/>
          </a:ln>
        </p:spPr>
      </p:sp>
      <p:sp>
        <p:nvSpPr>
          <p:cNvPr id="34" name="Text 32"/>
          <p:cNvSpPr/>
          <p:nvPr/>
        </p:nvSpPr>
        <p:spPr>
          <a:xfrm>
            <a:off x="5559552" y="4178808"/>
            <a:ext cx="118872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Border Pt</a:t>
            </a:r>
            <a:endParaRPr lang="en-US" sz="950" dirty="0"/>
          </a:p>
        </p:txBody>
      </p:sp>
      <p:sp>
        <p:nvSpPr>
          <p:cNvPr id="35" name="Shape 33"/>
          <p:cNvSpPr/>
          <p:nvPr/>
        </p:nvSpPr>
        <p:spPr>
          <a:xfrm>
            <a:off x="5303520" y="4507992"/>
            <a:ext cx="182880" cy="182880"/>
          </a:xfrm>
          <a:prstGeom prst="ellipse">
            <a:avLst/>
          </a:prstGeom>
          <a:solidFill>
            <a:srgbClr val="E05A5A"/>
          </a:solidFill>
          <a:ln w="12700">
            <a:solidFill>
              <a:srgbClr val="E05A5A"/>
            </a:solidFill>
            <a:prstDash val="solid"/>
          </a:ln>
        </p:spPr>
      </p:sp>
      <p:sp>
        <p:nvSpPr>
          <p:cNvPr id="36" name="Text 34"/>
          <p:cNvSpPr/>
          <p:nvPr/>
        </p:nvSpPr>
        <p:spPr>
          <a:xfrm>
            <a:off x="5559552" y="4471416"/>
            <a:ext cx="1188720" cy="256032"/>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Noise</a:t>
            </a:r>
            <a:endParaRPr lang="en-US" sz="950" dirty="0"/>
          </a:p>
        </p:txBody>
      </p:sp>
      <p:sp>
        <p:nvSpPr>
          <p:cNvPr id="37" name="Text 35"/>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1 of 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DBSCAN</a:t>
            </a:r>
            <a:endParaRPr lang="en-US" sz="3000" dirty="0"/>
          </a:p>
        </p:txBody>
      </p:sp>
      <p:sp>
        <p:nvSpPr>
          <p:cNvPr id="4" name="Shape 2"/>
          <p:cNvSpPr/>
          <p:nvPr/>
        </p:nvSpPr>
        <p:spPr>
          <a:xfrm>
            <a:off x="6583680" y="137160"/>
            <a:ext cx="2286000" cy="502920"/>
          </a:xfrm>
          <a:prstGeom prst="roundRect">
            <a:avLst>
              <a:gd name="adj" fmla="val 18182"/>
            </a:avLst>
          </a:prstGeom>
          <a:solidFill>
            <a:srgbClr val="F0A500"/>
          </a:solidFill>
          <a:ln w="12700">
            <a:solidFill>
              <a:srgbClr val="F0A500"/>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Pros &amp; Cons</a:t>
            </a:r>
            <a:endParaRPr lang="en-US" sz="1100" dirty="0"/>
          </a:p>
        </p:txBody>
      </p:sp>
      <p:sp>
        <p:nvSpPr>
          <p:cNvPr id="6" name="Shape 4"/>
          <p:cNvSpPr/>
          <p:nvPr/>
        </p:nvSpPr>
        <p:spPr>
          <a:xfrm>
            <a:off x="274320" y="960120"/>
            <a:ext cx="4206240" cy="3840480"/>
          </a:xfrm>
          <a:prstGeom prst="roundRect">
            <a:avLst>
              <a:gd name="adj" fmla="val 2857"/>
            </a:avLst>
          </a:prstGeom>
          <a:solidFill>
            <a:srgbClr val="FFFFFF"/>
          </a:solidFill>
          <a:ln w="19050">
            <a:solidFill>
              <a:srgbClr val="C3E6CB"/>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274320" y="960120"/>
            <a:ext cx="4206240" cy="457200"/>
          </a:xfrm>
          <a:prstGeom prst="roundRect">
            <a:avLst>
              <a:gd name="adj" fmla="val 24000"/>
            </a:avLst>
          </a:prstGeom>
          <a:solidFill>
            <a:srgbClr val="0E9F8E"/>
          </a:solidFill>
          <a:ln w="12700">
            <a:solidFill>
              <a:srgbClr val="0E9F8E"/>
            </a:solidFill>
            <a:prstDash val="solid"/>
          </a:ln>
        </p:spPr>
      </p:sp>
      <p:sp>
        <p:nvSpPr>
          <p:cNvPr id="8" name="Text 6"/>
          <p:cNvSpPr/>
          <p:nvPr/>
        </p:nvSpPr>
        <p:spPr>
          <a:xfrm>
            <a:off x="36576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Advantages</a:t>
            </a:r>
            <a:endParaRPr lang="en-US" sz="1400" dirty="0"/>
          </a:p>
        </p:txBody>
      </p:sp>
      <p:sp>
        <p:nvSpPr>
          <p:cNvPr id="9" name="Text 7"/>
          <p:cNvSpPr/>
          <p:nvPr/>
        </p:nvSpPr>
        <p:spPr>
          <a:xfrm>
            <a:off x="457200" y="1508760"/>
            <a:ext cx="3840480" cy="3108960"/>
          </a:xfrm>
          <a:prstGeom prst="rect">
            <a:avLst/>
          </a:prstGeom>
          <a:noFill/>
          <a:ln/>
        </p:spPr>
        <p:txBody>
          <a:bodyPr wrap="square" rtlCol="0" anchor="t"/>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No need to specify the number of clusters in advance</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Can find arbitrarily shaped clusters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Naturally identifies and handles noise/outliers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Robust to outliers unlike K-Means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Efficient on large spatial datasets with indexing</a:t>
            </a:r>
            <a:endParaRPr lang="en-US" sz="1250" dirty="0"/>
          </a:p>
        </p:txBody>
      </p:sp>
      <p:sp>
        <p:nvSpPr>
          <p:cNvPr id="10" name="Shape 8"/>
          <p:cNvSpPr/>
          <p:nvPr/>
        </p:nvSpPr>
        <p:spPr>
          <a:xfrm>
            <a:off x="4663440" y="960120"/>
            <a:ext cx="4206240" cy="3840480"/>
          </a:xfrm>
          <a:prstGeom prst="roundRect">
            <a:avLst>
              <a:gd name="adj" fmla="val 2857"/>
            </a:avLst>
          </a:prstGeom>
          <a:solidFill>
            <a:srgbClr val="FFFFFF"/>
          </a:solidFill>
          <a:ln w="19050">
            <a:solidFill>
              <a:srgbClr val="F5C6CB"/>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663440" y="960120"/>
            <a:ext cx="4206240" cy="457200"/>
          </a:xfrm>
          <a:prstGeom prst="roundRect">
            <a:avLst>
              <a:gd name="adj" fmla="val 24000"/>
            </a:avLst>
          </a:prstGeom>
          <a:solidFill>
            <a:srgbClr val="E05A5A"/>
          </a:solidFill>
          <a:ln w="12700">
            <a:solidFill>
              <a:srgbClr val="E05A5A"/>
            </a:solidFill>
            <a:prstDash val="solid"/>
          </a:ln>
        </p:spPr>
      </p:sp>
      <p:sp>
        <p:nvSpPr>
          <p:cNvPr id="12" name="Text 10"/>
          <p:cNvSpPr/>
          <p:nvPr/>
        </p:nvSpPr>
        <p:spPr>
          <a:xfrm>
            <a:off x="475488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Disadvantages</a:t>
            </a:r>
            <a:endParaRPr lang="en-US" sz="1400" dirty="0"/>
          </a:p>
        </p:txBody>
      </p:sp>
      <p:sp>
        <p:nvSpPr>
          <p:cNvPr id="13" name="Text 11"/>
          <p:cNvSpPr/>
          <p:nvPr/>
        </p:nvSpPr>
        <p:spPr>
          <a:xfrm>
            <a:off x="4846320" y="1508760"/>
            <a:ext cx="3840480" cy="3108960"/>
          </a:xfrm>
          <a:prstGeom prst="rect">
            <a:avLst/>
          </a:prstGeom>
          <a:noFill/>
          <a:ln/>
        </p:spPr>
        <p:txBody>
          <a:bodyPr wrap="square" rtlCol="0" anchor="t"/>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Requires careful tuning of epsilon and min_samples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Struggles with clusters of varying density</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Performance degrades in high-dimensional spaces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Not fully deterministic with border points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Difficult to cluster datasets with very different densities</a:t>
            </a:r>
            <a:endParaRPr lang="en-US" sz="1250" dirty="0"/>
          </a:p>
        </p:txBody>
      </p:sp>
      <p:sp>
        <p:nvSpPr>
          <p:cNvPr id="14" name="Text 12"/>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2 of 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DBSCAN</a:t>
            </a:r>
            <a:endParaRPr lang="en-US" sz="3000" dirty="0"/>
          </a:p>
        </p:txBody>
      </p:sp>
      <p:sp>
        <p:nvSpPr>
          <p:cNvPr id="4" name="Shape 2"/>
          <p:cNvSpPr/>
          <p:nvPr/>
        </p:nvSpPr>
        <p:spPr>
          <a:xfrm>
            <a:off x="6583680" y="137160"/>
            <a:ext cx="2286000" cy="502920"/>
          </a:xfrm>
          <a:prstGeom prst="roundRect">
            <a:avLst>
              <a:gd name="adj" fmla="val 18182"/>
            </a:avLst>
          </a:prstGeom>
          <a:solidFill>
            <a:srgbClr val="7C3AED"/>
          </a:solidFill>
          <a:ln w="12700">
            <a:solidFill>
              <a:srgbClr val="7C3AED"/>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 Code</a:t>
            </a:r>
            <a:endParaRPr lang="en-US" sz="1100" dirty="0"/>
          </a:p>
        </p:txBody>
      </p:sp>
      <p:sp>
        <p:nvSpPr>
          <p:cNvPr id="6" name="Shape 4"/>
          <p:cNvSpPr/>
          <p:nvPr/>
        </p:nvSpPr>
        <p:spPr>
          <a:xfrm>
            <a:off x="274320" y="960120"/>
            <a:ext cx="8595360" cy="3566160"/>
          </a:xfrm>
          <a:prstGeom prst="roundRect">
            <a:avLst>
              <a:gd name="adj" fmla="val 3077"/>
            </a:avLst>
          </a:prstGeom>
          <a:solidFill>
            <a:srgbClr val="1E293B"/>
          </a:solidFill>
          <a:ln w="12700">
            <a:solidFill>
              <a:srgbClr val="0D1929"/>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02920" y="1005840"/>
            <a:ext cx="8138160" cy="274320"/>
          </a:xfrm>
          <a:prstGeom prst="rect">
            <a:avLst/>
          </a:prstGeom>
          <a:noFill/>
          <a:ln/>
        </p:spPr>
        <p:txBody>
          <a:bodyPr wrap="square" rtlCol="0" anchor="ctr"/>
          <a:lstStyle/>
          <a:p>
            <a:pPr indent="0" marL="0">
              <a:buNone/>
            </a:pPr>
            <a:r>
              <a:rPr lang="en-US" sz="1100" i="1" dirty="0">
                <a:solidFill>
                  <a:srgbClr val="6B8CAE"/>
                </a:solidFill>
                <a:latin typeface="Courier New" pitchFamily="34" charset="0"/>
                <a:ea typeface="Courier New" pitchFamily="34" charset="-122"/>
                <a:cs typeface="Courier New" pitchFamily="34" charset="-120"/>
              </a:rPr>
              <a:t># Python Implementation</a:t>
            </a:r>
            <a:endParaRPr lang="en-US" sz="1100" dirty="0"/>
          </a:p>
        </p:txBody>
      </p:sp>
      <p:sp>
        <p:nvSpPr>
          <p:cNvPr id="8" name="Text 6"/>
          <p:cNvSpPr/>
          <p:nvPr/>
        </p:nvSpPr>
        <p:spPr>
          <a:xfrm>
            <a:off x="502920" y="1280160"/>
            <a:ext cx="8138160" cy="3108960"/>
          </a:xfrm>
          <a:prstGeom prst="rect">
            <a:avLst/>
          </a:prstGeom>
          <a:noFill/>
          <a:ln/>
        </p:spPr>
        <p:txBody>
          <a:bodyPr wrap="square" rtlCol="0" anchor="t"/>
          <a:lstStyle/>
          <a:p>
            <a:pPr indent="0" marL="0">
              <a:buNone/>
            </a:pPr>
            <a:r>
              <a:rPr lang="en-US" sz="1150" dirty="0">
                <a:solidFill>
                  <a:srgbClr val="A8D8A8"/>
                </a:solidFill>
                <a:latin typeface="Courier New" pitchFamily="34" charset="0"/>
                <a:ea typeface="Courier New" pitchFamily="34" charset="-122"/>
                <a:cs typeface="Courier New" pitchFamily="34" charset="-120"/>
              </a:rPr>
              <a:t>from sklearn.cluster import DBSCAN</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from sklearn.datasets import make_moons</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import numpy as np</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X, _ = make_moons(n_samples=300, noise=0.05, random_state=42)</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Fit DBSCAN</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model = DBSCAN(</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eps=0.3,          # Neighborhood radius</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min_samples=5     # Min points to form core</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labels = model.fit_predict(X)</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n_clusters = len(set(labels)) - (1 if -1 in labels else 0)</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n_noise = list(labels).count(-1)</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print(f'Clusters: {n_clusters}, Noise: {n_noise}')</a:t>
            </a:r>
            <a:endParaRPr lang="en-US" sz="1150" dirty="0"/>
          </a:p>
        </p:txBody>
      </p:sp>
      <p:sp>
        <p:nvSpPr>
          <p:cNvPr id="9" name="Shape 7"/>
          <p:cNvSpPr/>
          <p:nvPr/>
        </p:nvSpPr>
        <p:spPr>
          <a:xfrm>
            <a:off x="274320" y="4663440"/>
            <a:ext cx="2651760" cy="365760"/>
          </a:xfrm>
          <a:prstGeom prst="roundRect">
            <a:avLst>
              <a:gd name="adj" fmla="val 25000"/>
            </a:avLst>
          </a:prstGeom>
          <a:solidFill>
            <a:srgbClr val="EDE9FE"/>
          </a:solidFill>
          <a:ln w="12700">
            <a:solidFill>
              <a:srgbClr val="C4B5FD"/>
            </a:solidFill>
            <a:prstDash val="solid"/>
          </a:ln>
        </p:spPr>
      </p:sp>
      <p:sp>
        <p:nvSpPr>
          <p:cNvPr id="10" name="Text 8"/>
          <p:cNvSpPr/>
          <p:nvPr/>
        </p:nvSpPr>
        <p:spPr>
          <a:xfrm>
            <a:off x="32004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label -1 = noise point</a:t>
            </a:r>
            <a:endParaRPr lang="en-US" sz="1050" dirty="0"/>
          </a:p>
        </p:txBody>
      </p:sp>
      <p:sp>
        <p:nvSpPr>
          <p:cNvPr id="11" name="Shape 9"/>
          <p:cNvSpPr/>
          <p:nvPr/>
        </p:nvSpPr>
        <p:spPr>
          <a:xfrm>
            <a:off x="3108960" y="4663440"/>
            <a:ext cx="2651760" cy="365760"/>
          </a:xfrm>
          <a:prstGeom prst="roundRect">
            <a:avLst>
              <a:gd name="adj" fmla="val 25000"/>
            </a:avLst>
          </a:prstGeom>
          <a:solidFill>
            <a:srgbClr val="EDE9FE"/>
          </a:solidFill>
          <a:ln w="12700">
            <a:solidFill>
              <a:srgbClr val="C4B5FD"/>
            </a:solidFill>
            <a:prstDash val="solid"/>
          </a:ln>
        </p:spPr>
      </p:sp>
      <p:sp>
        <p:nvSpPr>
          <p:cNvPr id="12" name="Text 10"/>
          <p:cNvSpPr/>
          <p:nvPr/>
        </p:nvSpPr>
        <p:spPr>
          <a:xfrm>
            <a:off x="315468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eps defines neighborhood size</a:t>
            </a:r>
            <a:endParaRPr lang="en-US" sz="1050" dirty="0"/>
          </a:p>
        </p:txBody>
      </p:sp>
      <p:sp>
        <p:nvSpPr>
          <p:cNvPr id="13" name="Shape 11"/>
          <p:cNvSpPr/>
          <p:nvPr/>
        </p:nvSpPr>
        <p:spPr>
          <a:xfrm>
            <a:off x="5943600" y="4663440"/>
            <a:ext cx="2651760" cy="365760"/>
          </a:xfrm>
          <a:prstGeom prst="roundRect">
            <a:avLst>
              <a:gd name="adj" fmla="val 25000"/>
            </a:avLst>
          </a:prstGeom>
          <a:solidFill>
            <a:srgbClr val="EDE9FE"/>
          </a:solidFill>
          <a:ln w="12700">
            <a:solidFill>
              <a:srgbClr val="C4B5FD"/>
            </a:solidFill>
            <a:prstDash val="solid"/>
          </a:ln>
        </p:spPr>
      </p:sp>
      <p:sp>
        <p:nvSpPr>
          <p:cNvPr id="14" name="Text 12"/>
          <p:cNvSpPr/>
          <p:nvPr/>
        </p:nvSpPr>
        <p:spPr>
          <a:xfrm>
            <a:off x="598932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min_samples controls density</a:t>
            </a:r>
            <a:endParaRPr lang="en-US" sz="1050" dirty="0"/>
          </a:p>
        </p:txBody>
      </p:sp>
      <p:sp>
        <p:nvSpPr>
          <p:cNvPr id="15" name="Text 13"/>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3 of 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OPTICS</a:t>
            </a:r>
            <a:endParaRPr lang="en-US" sz="3000" dirty="0"/>
          </a:p>
        </p:txBody>
      </p:sp>
      <p:sp>
        <p:nvSpPr>
          <p:cNvPr id="4" name="Shape 2"/>
          <p:cNvSpPr/>
          <p:nvPr/>
        </p:nvSpPr>
        <p:spPr>
          <a:xfrm>
            <a:off x="6583680" y="137160"/>
            <a:ext cx="2286000" cy="502920"/>
          </a:xfrm>
          <a:prstGeom prst="roundRect">
            <a:avLst>
              <a:gd name="adj" fmla="val 18182"/>
            </a:avLst>
          </a:prstGeom>
          <a:solidFill>
            <a:srgbClr val="0E9F8E"/>
          </a:solidFill>
          <a:ln w="12700">
            <a:solidFill>
              <a:srgbClr val="0E9F8E"/>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Definition &amp; Diagram</a:t>
            </a:r>
            <a:endParaRPr lang="en-US" sz="1100" dirty="0"/>
          </a:p>
        </p:txBody>
      </p:sp>
      <p:sp>
        <p:nvSpPr>
          <p:cNvPr id="6" name="Shape 4"/>
          <p:cNvSpPr/>
          <p:nvPr/>
        </p:nvSpPr>
        <p:spPr>
          <a:xfrm>
            <a:off x="274320" y="960120"/>
            <a:ext cx="4663440" cy="3840480"/>
          </a:xfrm>
          <a:prstGeom prst="roundRect">
            <a:avLst>
              <a:gd name="adj" fmla="val 2857"/>
            </a:avLst>
          </a:prstGeom>
          <a:solidFill>
            <a:srgbClr val="FFFFFF"/>
          </a:solidFill>
          <a:ln w="12700">
            <a:solidFill>
              <a:srgbClr val="D4E0F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57200" y="1051560"/>
            <a:ext cx="4297680" cy="365760"/>
          </a:xfrm>
          <a:prstGeom prst="rect">
            <a:avLst/>
          </a:prstGeom>
          <a:noFill/>
          <a:ln/>
        </p:spPr>
        <p:txBody>
          <a:bodyPr wrap="square" lIns="0" tIns="0" rIns="0" bIns="0" rtlCol="0" anchor="ctr"/>
          <a:lstStyle/>
          <a:p>
            <a:pPr indent="0" marL="0">
              <a:buNone/>
            </a:pPr>
            <a:r>
              <a:rPr lang="en-US" sz="1400" b="1" dirty="0">
                <a:solidFill>
                  <a:srgbClr val="0E9F8E"/>
                </a:solidFill>
                <a:latin typeface="Calibri" pitchFamily="34" charset="0"/>
                <a:ea typeface="Calibri" pitchFamily="34" charset="-122"/>
                <a:cs typeface="Calibri" pitchFamily="34" charset="-120"/>
              </a:rPr>
              <a:t>What is it?</a:t>
            </a:r>
            <a:endParaRPr lang="en-US" sz="1400" dirty="0"/>
          </a:p>
        </p:txBody>
      </p:sp>
      <p:sp>
        <p:nvSpPr>
          <p:cNvPr id="8" name="Text 6"/>
          <p:cNvSpPr/>
          <p:nvPr/>
        </p:nvSpPr>
        <p:spPr>
          <a:xfrm>
            <a:off x="457200" y="1463040"/>
            <a:ext cx="4297680" cy="30175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OPTICS (Ordering Points To Identify the Clustering Structure) is an extension of DBSCAN that addresses its limitation of varying cluster densities. It creates an ordered list of data points with reachability distances, producing a reachability plot. Valleys in this plot correspond to clusters, enabling detection of clusters at multiple density levels without a fixed epsilon.</a:t>
            </a:r>
            <a:endParaRPr lang="en-US" sz="1300" dirty="0"/>
          </a:p>
        </p:txBody>
      </p:sp>
      <p:sp>
        <p:nvSpPr>
          <p:cNvPr id="9" name="Shape 7"/>
          <p:cNvSpPr/>
          <p:nvPr/>
        </p:nvSpPr>
        <p:spPr>
          <a:xfrm>
            <a:off x="5120640" y="960120"/>
            <a:ext cx="3749040" cy="3840480"/>
          </a:xfrm>
          <a:prstGeom prst="roundRect">
            <a:avLst>
              <a:gd name="adj" fmla="val 2927"/>
            </a:avLst>
          </a:prstGeom>
          <a:solidFill>
            <a:srgbClr val="FFFFFF"/>
          </a:solidFill>
          <a:ln w="12700">
            <a:solidFill>
              <a:srgbClr val="D4E0F0"/>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303520" y="1051560"/>
            <a:ext cx="3383280" cy="320040"/>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Visual Diagram</a:t>
            </a:r>
            <a:endParaRPr lang="en-US" sz="1200" dirty="0"/>
          </a:p>
        </p:txBody>
      </p:sp>
      <p:sp>
        <p:nvSpPr>
          <p:cNvPr id="11" name="Shape 9"/>
          <p:cNvSpPr/>
          <p:nvPr/>
        </p:nvSpPr>
        <p:spPr>
          <a:xfrm>
            <a:off x="5303520" y="3703320"/>
            <a:ext cx="3291840" cy="0"/>
          </a:xfrm>
          <a:prstGeom prst="line">
            <a:avLst/>
          </a:prstGeom>
          <a:noFill/>
          <a:ln w="19050">
            <a:solidFill>
              <a:srgbClr val="64748B"/>
            </a:solidFill>
            <a:prstDash val="solid"/>
          </a:ln>
        </p:spPr>
      </p:sp>
      <p:sp>
        <p:nvSpPr>
          <p:cNvPr id="12" name="Shape 10"/>
          <p:cNvSpPr/>
          <p:nvPr/>
        </p:nvSpPr>
        <p:spPr>
          <a:xfrm>
            <a:off x="5303520" y="1874520"/>
            <a:ext cx="0" cy="1828800"/>
          </a:xfrm>
          <a:prstGeom prst="line">
            <a:avLst/>
          </a:prstGeom>
          <a:noFill/>
          <a:ln w="19050">
            <a:solidFill>
              <a:srgbClr val="64748B"/>
            </a:solidFill>
            <a:prstDash val="solid"/>
          </a:ln>
        </p:spPr>
      </p:sp>
      <p:sp>
        <p:nvSpPr>
          <p:cNvPr id="13" name="Text 11"/>
          <p:cNvSpPr/>
          <p:nvPr/>
        </p:nvSpPr>
        <p:spPr>
          <a:xfrm rot="16200000">
            <a:off x="5166360" y="2606040"/>
            <a:ext cx="274320" cy="4572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Reachability</a:t>
            </a:r>
            <a:endParaRPr lang="en-US" sz="750" dirty="0"/>
          </a:p>
        </p:txBody>
      </p:sp>
      <p:sp>
        <p:nvSpPr>
          <p:cNvPr id="14" name="Text 12"/>
          <p:cNvSpPr/>
          <p:nvPr/>
        </p:nvSpPr>
        <p:spPr>
          <a:xfrm>
            <a:off x="6217920" y="3749040"/>
            <a:ext cx="1463040" cy="22860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Points (ordered)</a:t>
            </a:r>
            <a:endParaRPr lang="en-US" sz="800" dirty="0"/>
          </a:p>
        </p:txBody>
      </p:sp>
      <p:sp>
        <p:nvSpPr>
          <p:cNvPr id="15" name="Shape 13"/>
          <p:cNvSpPr/>
          <p:nvPr/>
        </p:nvSpPr>
        <p:spPr>
          <a:xfrm>
            <a:off x="5312664" y="2057400"/>
            <a:ext cx="154967" cy="1645920"/>
          </a:xfrm>
          <a:prstGeom prst="rect">
            <a:avLst/>
          </a:prstGeom>
          <a:solidFill>
            <a:srgbClr val="0E9F8E">
              <a:alpha val="70000"/>
            </a:srgbClr>
          </a:solidFill>
          <a:ln w="12700">
            <a:solidFill>
              <a:srgbClr val="0E9F8E"/>
            </a:solidFill>
            <a:prstDash val="solid"/>
          </a:ln>
        </p:spPr>
      </p:sp>
      <p:sp>
        <p:nvSpPr>
          <p:cNvPr id="16" name="Shape 14"/>
          <p:cNvSpPr/>
          <p:nvPr/>
        </p:nvSpPr>
        <p:spPr>
          <a:xfrm>
            <a:off x="5485919" y="2240280"/>
            <a:ext cx="154967" cy="1463040"/>
          </a:xfrm>
          <a:prstGeom prst="rect">
            <a:avLst/>
          </a:prstGeom>
          <a:solidFill>
            <a:srgbClr val="0E9F8E">
              <a:alpha val="70000"/>
            </a:srgbClr>
          </a:solidFill>
          <a:ln w="12700">
            <a:solidFill>
              <a:srgbClr val="0E9F8E"/>
            </a:solidFill>
            <a:prstDash val="solid"/>
          </a:ln>
        </p:spPr>
      </p:sp>
      <p:sp>
        <p:nvSpPr>
          <p:cNvPr id="17" name="Shape 15"/>
          <p:cNvSpPr/>
          <p:nvPr/>
        </p:nvSpPr>
        <p:spPr>
          <a:xfrm>
            <a:off x="5659173" y="2423160"/>
            <a:ext cx="154967" cy="1280160"/>
          </a:xfrm>
          <a:prstGeom prst="rect">
            <a:avLst/>
          </a:prstGeom>
          <a:solidFill>
            <a:srgbClr val="0E9F8E">
              <a:alpha val="70000"/>
            </a:srgbClr>
          </a:solidFill>
          <a:ln w="12700">
            <a:solidFill>
              <a:srgbClr val="0E9F8E"/>
            </a:solidFill>
            <a:prstDash val="solid"/>
          </a:ln>
        </p:spPr>
      </p:sp>
      <p:sp>
        <p:nvSpPr>
          <p:cNvPr id="18" name="Shape 16"/>
          <p:cNvSpPr/>
          <p:nvPr/>
        </p:nvSpPr>
        <p:spPr>
          <a:xfrm>
            <a:off x="5832428" y="2788920"/>
            <a:ext cx="154967" cy="914400"/>
          </a:xfrm>
          <a:prstGeom prst="rect">
            <a:avLst/>
          </a:prstGeom>
          <a:solidFill>
            <a:srgbClr val="0E9F8E">
              <a:alpha val="70000"/>
            </a:srgbClr>
          </a:solidFill>
          <a:ln w="12700">
            <a:solidFill>
              <a:srgbClr val="0E9F8E"/>
            </a:solidFill>
            <a:prstDash val="solid"/>
          </a:ln>
        </p:spPr>
      </p:sp>
      <p:sp>
        <p:nvSpPr>
          <p:cNvPr id="19" name="Shape 17"/>
          <p:cNvSpPr/>
          <p:nvPr/>
        </p:nvSpPr>
        <p:spPr>
          <a:xfrm>
            <a:off x="6005683" y="2971800"/>
            <a:ext cx="154967" cy="731520"/>
          </a:xfrm>
          <a:prstGeom prst="rect">
            <a:avLst/>
          </a:prstGeom>
          <a:solidFill>
            <a:srgbClr val="0E9F8E">
              <a:alpha val="70000"/>
            </a:srgbClr>
          </a:solidFill>
          <a:ln w="12700">
            <a:solidFill>
              <a:srgbClr val="0E9F8E"/>
            </a:solidFill>
            <a:prstDash val="solid"/>
          </a:ln>
        </p:spPr>
      </p:sp>
      <p:sp>
        <p:nvSpPr>
          <p:cNvPr id="20" name="Shape 18"/>
          <p:cNvSpPr/>
          <p:nvPr/>
        </p:nvSpPr>
        <p:spPr>
          <a:xfrm>
            <a:off x="6178938" y="3154680"/>
            <a:ext cx="154967" cy="548640"/>
          </a:xfrm>
          <a:prstGeom prst="rect">
            <a:avLst/>
          </a:prstGeom>
          <a:solidFill>
            <a:srgbClr val="0E9F8E">
              <a:alpha val="70000"/>
            </a:srgbClr>
          </a:solidFill>
          <a:ln w="12700">
            <a:solidFill>
              <a:srgbClr val="0E9F8E"/>
            </a:solidFill>
            <a:prstDash val="solid"/>
          </a:ln>
        </p:spPr>
      </p:sp>
      <p:sp>
        <p:nvSpPr>
          <p:cNvPr id="21" name="Shape 19"/>
          <p:cNvSpPr/>
          <p:nvPr/>
        </p:nvSpPr>
        <p:spPr>
          <a:xfrm>
            <a:off x="6352192" y="2788920"/>
            <a:ext cx="154967" cy="914400"/>
          </a:xfrm>
          <a:prstGeom prst="rect">
            <a:avLst/>
          </a:prstGeom>
          <a:solidFill>
            <a:srgbClr val="0E9F8E">
              <a:alpha val="70000"/>
            </a:srgbClr>
          </a:solidFill>
          <a:ln w="12700">
            <a:solidFill>
              <a:srgbClr val="0E9F8E"/>
            </a:solidFill>
            <a:prstDash val="solid"/>
          </a:ln>
        </p:spPr>
      </p:sp>
      <p:sp>
        <p:nvSpPr>
          <p:cNvPr id="22" name="Shape 20"/>
          <p:cNvSpPr/>
          <p:nvPr/>
        </p:nvSpPr>
        <p:spPr>
          <a:xfrm>
            <a:off x="6525447" y="2240280"/>
            <a:ext cx="154967" cy="1463040"/>
          </a:xfrm>
          <a:prstGeom prst="rect">
            <a:avLst/>
          </a:prstGeom>
          <a:solidFill>
            <a:srgbClr val="0E9F8E">
              <a:alpha val="70000"/>
            </a:srgbClr>
          </a:solidFill>
          <a:ln w="12700">
            <a:solidFill>
              <a:srgbClr val="0E9F8E"/>
            </a:solidFill>
            <a:prstDash val="solid"/>
          </a:ln>
        </p:spPr>
      </p:sp>
      <p:sp>
        <p:nvSpPr>
          <p:cNvPr id="23" name="Shape 21"/>
          <p:cNvSpPr/>
          <p:nvPr/>
        </p:nvSpPr>
        <p:spPr>
          <a:xfrm>
            <a:off x="6698702" y="2057400"/>
            <a:ext cx="154967" cy="1645920"/>
          </a:xfrm>
          <a:prstGeom prst="rect">
            <a:avLst/>
          </a:prstGeom>
          <a:solidFill>
            <a:srgbClr val="E05A5A">
              <a:alpha val="70000"/>
            </a:srgbClr>
          </a:solidFill>
          <a:ln w="12700">
            <a:solidFill>
              <a:srgbClr val="E05A5A"/>
            </a:solidFill>
            <a:prstDash val="solid"/>
          </a:ln>
        </p:spPr>
      </p:sp>
      <p:sp>
        <p:nvSpPr>
          <p:cNvPr id="24" name="Shape 22"/>
          <p:cNvSpPr/>
          <p:nvPr/>
        </p:nvSpPr>
        <p:spPr>
          <a:xfrm>
            <a:off x="6871957" y="1965960"/>
            <a:ext cx="154967" cy="1737360"/>
          </a:xfrm>
          <a:prstGeom prst="rect">
            <a:avLst/>
          </a:prstGeom>
          <a:solidFill>
            <a:srgbClr val="F0A500">
              <a:alpha val="70000"/>
            </a:srgbClr>
          </a:solidFill>
          <a:ln w="12700">
            <a:solidFill>
              <a:srgbClr val="F0A500"/>
            </a:solidFill>
            <a:prstDash val="solid"/>
          </a:ln>
        </p:spPr>
      </p:sp>
      <p:sp>
        <p:nvSpPr>
          <p:cNvPr id="25" name="Shape 23"/>
          <p:cNvSpPr/>
          <p:nvPr/>
        </p:nvSpPr>
        <p:spPr>
          <a:xfrm>
            <a:off x="7045211" y="2423160"/>
            <a:ext cx="154967" cy="1280160"/>
          </a:xfrm>
          <a:prstGeom prst="rect">
            <a:avLst/>
          </a:prstGeom>
          <a:solidFill>
            <a:srgbClr val="F0A500">
              <a:alpha val="70000"/>
            </a:srgbClr>
          </a:solidFill>
          <a:ln w="12700">
            <a:solidFill>
              <a:srgbClr val="F0A500"/>
            </a:solidFill>
            <a:prstDash val="solid"/>
          </a:ln>
        </p:spPr>
      </p:sp>
      <p:sp>
        <p:nvSpPr>
          <p:cNvPr id="26" name="Shape 24"/>
          <p:cNvSpPr/>
          <p:nvPr/>
        </p:nvSpPr>
        <p:spPr>
          <a:xfrm>
            <a:off x="7218466" y="2606040"/>
            <a:ext cx="154967" cy="1097280"/>
          </a:xfrm>
          <a:prstGeom prst="rect">
            <a:avLst/>
          </a:prstGeom>
          <a:solidFill>
            <a:srgbClr val="F0A500">
              <a:alpha val="70000"/>
            </a:srgbClr>
          </a:solidFill>
          <a:ln w="12700">
            <a:solidFill>
              <a:srgbClr val="F0A500"/>
            </a:solidFill>
            <a:prstDash val="solid"/>
          </a:ln>
        </p:spPr>
      </p:sp>
      <p:sp>
        <p:nvSpPr>
          <p:cNvPr id="27" name="Shape 25"/>
          <p:cNvSpPr/>
          <p:nvPr/>
        </p:nvSpPr>
        <p:spPr>
          <a:xfrm>
            <a:off x="7391721" y="2971800"/>
            <a:ext cx="154967" cy="731520"/>
          </a:xfrm>
          <a:prstGeom prst="rect">
            <a:avLst/>
          </a:prstGeom>
          <a:solidFill>
            <a:srgbClr val="F0A500">
              <a:alpha val="70000"/>
            </a:srgbClr>
          </a:solidFill>
          <a:ln w="12700">
            <a:solidFill>
              <a:srgbClr val="F0A500"/>
            </a:solidFill>
            <a:prstDash val="solid"/>
          </a:ln>
        </p:spPr>
      </p:sp>
      <p:sp>
        <p:nvSpPr>
          <p:cNvPr id="28" name="Shape 26"/>
          <p:cNvSpPr/>
          <p:nvPr/>
        </p:nvSpPr>
        <p:spPr>
          <a:xfrm>
            <a:off x="7564976" y="3154680"/>
            <a:ext cx="154967" cy="548640"/>
          </a:xfrm>
          <a:prstGeom prst="rect">
            <a:avLst/>
          </a:prstGeom>
          <a:solidFill>
            <a:srgbClr val="F0A500">
              <a:alpha val="70000"/>
            </a:srgbClr>
          </a:solidFill>
          <a:ln w="12700">
            <a:solidFill>
              <a:srgbClr val="F0A500"/>
            </a:solidFill>
            <a:prstDash val="solid"/>
          </a:ln>
        </p:spPr>
      </p:sp>
      <p:sp>
        <p:nvSpPr>
          <p:cNvPr id="29" name="Shape 27"/>
          <p:cNvSpPr/>
          <p:nvPr/>
        </p:nvSpPr>
        <p:spPr>
          <a:xfrm>
            <a:off x="7738230" y="3246120"/>
            <a:ext cx="154967" cy="457200"/>
          </a:xfrm>
          <a:prstGeom prst="rect">
            <a:avLst/>
          </a:prstGeom>
          <a:solidFill>
            <a:srgbClr val="F0A500">
              <a:alpha val="70000"/>
            </a:srgbClr>
          </a:solidFill>
          <a:ln w="12700">
            <a:solidFill>
              <a:srgbClr val="F0A500"/>
            </a:solidFill>
            <a:prstDash val="solid"/>
          </a:ln>
        </p:spPr>
      </p:sp>
      <p:sp>
        <p:nvSpPr>
          <p:cNvPr id="30" name="Shape 28"/>
          <p:cNvSpPr/>
          <p:nvPr/>
        </p:nvSpPr>
        <p:spPr>
          <a:xfrm>
            <a:off x="7911485" y="3063240"/>
            <a:ext cx="154967" cy="640080"/>
          </a:xfrm>
          <a:prstGeom prst="rect">
            <a:avLst/>
          </a:prstGeom>
          <a:solidFill>
            <a:srgbClr val="F0A500">
              <a:alpha val="70000"/>
            </a:srgbClr>
          </a:solidFill>
          <a:ln w="12700">
            <a:solidFill>
              <a:srgbClr val="F0A500"/>
            </a:solidFill>
            <a:prstDash val="solid"/>
          </a:ln>
        </p:spPr>
      </p:sp>
      <p:sp>
        <p:nvSpPr>
          <p:cNvPr id="31" name="Shape 29"/>
          <p:cNvSpPr/>
          <p:nvPr/>
        </p:nvSpPr>
        <p:spPr>
          <a:xfrm>
            <a:off x="8084740" y="2606040"/>
            <a:ext cx="154967" cy="1097280"/>
          </a:xfrm>
          <a:prstGeom prst="rect">
            <a:avLst/>
          </a:prstGeom>
          <a:solidFill>
            <a:srgbClr val="F0A500">
              <a:alpha val="70000"/>
            </a:srgbClr>
          </a:solidFill>
          <a:ln w="12700">
            <a:solidFill>
              <a:srgbClr val="F0A500"/>
            </a:solidFill>
            <a:prstDash val="solid"/>
          </a:ln>
        </p:spPr>
      </p:sp>
      <p:sp>
        <p:nvSpPr>
          <p:cNvPr id="32" name="Shape 30"/>
          <p:cNvSpPr/>
          <p:nvPr/>
        </p:nvSpPr>
        <p:spPr>
          <a:xfrm>
            <a:off x="8257995" y="2423160"/>
            <a:ext cx="154967" cy="1280160"/>
          </a:xfrm>
          <a:prstGeom prst="rect">
            <a:avLst/>
          </a:prstGeom>
          <a:solidFill>
            <a:srgbClr val="F0A500">
              <a:alpha val="70000"/>
            </a:srgbClr>
          </a:solidFill>
          <a:ln w="12700">
            <a:solidFill>
              <a:srgbClr val="F0A500"/>
            </a:solidFill>
            <a:prstDash val="solid"/>
          </a:ln>
        </p:spPr>
      </p:sp>
      <p:sp>
        <p:nvSpPr>
          <p:cNvPr id="33" name="Shape 31"/>
          <p:cNvSpPr/>
          <p:nvPr/>
        </p:nvSpPr>
        <p:spPr>
          <a:xfrm>
            <a:off x="8431249" y="2057400"/>
            <a:ext cx="154967" cy="1645920"/>
          </a:xfrm>
          <a:prstGeom prst="rect">
            <a:avLst/>
          </a:prstGeom>
          <a:solidFill>
            <a:srgbClr val="F0A500">
              <a:alpha val="70000"/>
            </a:srgbClr>
          </a:solidFill>
          <a:ln w="12700">
            <a:solidFill>
              <a:srgbClr val="F0A500"/>
            </a:solidFill>
            <a:prstDash val="solid"/>
          </a:ln>
        </p:spPr>
      </p:sp>
      <p:sp>
        <p:nvSpPr>
          <p:cNvPr id="34" name="Text 32"/>
          <p:cNvSpPr/>
          <p:nvPr/>
        </p:nvSpPr>
        <p:spPr>
          <a:xfrm>
            <a:off x="5394960" y="3977640"/>
            <a:ext cx="1097280" cy="228600"/>
          </a:xfrm>
          <a:prstGeom prst="rect">
            <a:avLst/>
          </a:prstGeom>
          <a:noFill/>
          <a:ln/>
        </p:spPr>
        <p:txBody>
          <a:bodyPr wrap="square" rtlCol="0" anchor="ctr"/>
          <a:lstStyle/>
          <a:p>
            <a:pPr indent="0" marL="0">
              <a:buNone/>
            </a:pPr>
            <a:r>
              <a:rPr lang="en-US" sz="900" b="1" dirty="0">
                <a:solidFill>
                  <a:srgbClr val="0E9F8E"/>
                </a:solidFill>
                <a:latin typeface="Calibri" pitchFamily="34" charset="0"/>
                <a:ea typeface="Calibri" pitchFamily="34" charset="-122"/>
                <a:cs typeface="Calibri" pitchFamily="34" charset="-120"/>
              </a:rPr>
              <a:t>Cluster 1</a:t>
            </a:r>
            <a:endParaRPr lang="en-US" sz="900" dirty="0"/>
          </a:p>
        </p:txBody>
      </p:sp>
      <p:sp>
        <p:nvSpPr>
          <p:cNvPr id="35" name="Text 33"/>
          <p:cNvSpPr/>
          <p:nvPr/>
        </p:nvSpPr>
        <p:spPr>
          <a:xfrm>
            <a:off x="6858000" y="3977640"/>
            <a:ext cx="1097280" cy="228600"/>
          </a:xfrm>
          <a:prstGeom prst="rect">
            <a:avLst/>
          </a:prstGeom>
          <a:noFill/>
          <a:ln/>
        </p:spPr>
        <p:txBody>
          <a:bodyPr wrap="square" rtlCol="0" anchor="ctr"/>
          <a:lstStyle/>
          <a:p>
            <a:pPr indent="0" marL="0">
              <a:buNone/>
            </a:pPr>
            <a:r>
              <a:rPr lang="en-US" sz="900" b="1" dirty="0">
                <a:solidFill>
                  <a:srgbClr val="F0A500"/>
                </a:solidFill>
                <a:latin typeface="Calibri" pitchFamily="34" charset="0"/>
                <a:ea typeface="Calibri" pitchFamily="34" charset="-122"/>
                <a:cs typeface="Calibri" pitchFamily="34" charset="-120"/>
              </a:rPr>
              <a:t>Cluster 2</a:t>
            </a:r>
            <a:endParaRPr lang="en-US" sz="900" dirty="0"/>
          </a:p>
        </p:txBody>
      </p:sp>
      <p:sp>
        <p:nvSpPr>
          <p:cNvPr id="36" name="Text 34"/>
          <p:cNvSpPr/>
          <p:nvPr/>
        </p:nvSpPr>
        <p:spPr>
          <a:xfrm>
            <a:off x="5303520" y="4434840"/>
            <a:ext cx="3383280" cy="27432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 valleys = clusters</a:t>
            </a:r>
            <a:endParaRPr lang="en-US" sz="950" dirty="0"/>
          </a:p>
        </p:txBody>
      </p:sp>
      <p:sp>
        <p:nvSpPr>
          <p:cNvPr id="37" name="Text 35"/>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1 of 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OPTICS</a:t>
            </a:r>
            <a:endParaRPr lang="en-US" sz="3000" dirty="0"/>
          </a:p>
        </p:txBody>
      </p:sp>
      <p:sp>
        <p:nvSpPr>
          <p:cNvPr id="4" name="Shape 2"/>
          <p:cNvSpPr/>
          <p:nvPr/>
        </p:nvSpPr>
        <p:spPr>
          <a:xfrm>
            <a:off x="6583680" y="137160"/>
            <a:ext cx="2286000" cy="502920"/>
          </a:xfrm>
          <a:prstGeom prst="roundRect">
            <a:avLst>
              <a:gd name="adj" fmla="val 18182"/>
            </a:avLst>
          </a:prstGeom>
          <a:solidFill>
            <a:srgbClr val="F0A500"/>
          </a:solidFill>
          <a:ln w="12700">
            <a:solidFill>
              <a:srgbClr val="F0A500"/>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Pros &amp; Cons</a:t>
            </a:r>
            <a:endParaRPr lang="en-US" sz="1100" dirty="0"/>
          </a:p>
        </p:txBody>
      </p:sp>
      <p:sp>
        <p:nvSpPr>
          <p:cNvPr id="6" name="Shape 4"/>
          <p:cNvSpPr/>
          <p:nvPr/>
        </p:nvSpPr>
        <p:spPr>
          <a:xfrm>
            <a:off x="274320" y="960120"/>
            <a:ext cx="4206240" cy="3840480"/>
          </a:xfrm>
          <a:prstGeom prst="roundRect">
            <a:avLst>
              <a:gd name="adj" fmla="val 2857"/>
            </a:avLst>
          </a:prstGeom>
          <a:solidFill>
            <a:srgbClr val="FFFFFF"/>
          </a:solidFill>
          <a:ln w="19050">
            <a:solidFill>
              <a:srgbClr val="C3E6CB"/>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274320" y="960120"/>
            <a:ext cx="4206240" cy="457200"/>
          </a:xfrm>
          <a:prstGeom prst="roundRect">
            <a:avLst>
              <a:gd name="adj" fmla="val 24000"/>
            </a:avLst>
          </a:prstGeom>
          <a:solidFill>
            <a:srgbClr val="0E9F8E"/>
          </a:solidFill>
          <a:ln w="12700">
            <a:solidFill>
              <a:srgbClr val="0E9F8E"/>
            </a:solidFill>
            <a:prstDash val="solid"/>
          </a:ln>
        </p:spPr>
      </p:sp>
      <p:sp>
        <p:nvSpPr>
          <p:cNvPr id="8" name="Text 6"/>
          <p:cNvSpPr/>
          <p:nvPr/>
        </p:nvSpPr>
        <p:spPr>
          <a:xfrm>
            <a:off x="36576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Advantages</a:t>
            </a:r>
            <a:endParaRPr lang="en-US" sz="1400" dirty="0"/>
          </a:p>
        </p:txBody>
      </p:sp>
      <p:sp>
        <p:nvSpPr>
          <p:cNvPr id="9" name="Text 7"/>
          <p:cNvSpPr/>
          <p:nvPr/>
        </p:nvSpPr>
        <p:spPr>
          <a:xfrm>
            <a:off x="457200" y="1508760"/>
            <a:ext cx="3840480" cy="3108960"/>
          </a:xfrm>
          <a:prstGeom prst="rect">
            <a:avLst/>
          </a:prstGeom>
          <a:noFill/>
          <a:ln/>
        </p:spPr>
        <p:txBody>
          <a:bodyPr wrap="square" rtlCol="0" anchor="t"/>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Handles clusters of varying densities better than DBSCAN</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No need to specify epsilon — uses max_eps instead</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Produces a reachability plot for visual cluster analysis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Can identify clusters at multiple density levels (hierarchical)</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Robust noise/outlier detection</a:t>
            </a:r>
            <a:endParaRPr lang="en-US" sz="1250" dirty="0"/>
          </a:p>
        </p:txBody>
      </p:sp>
      <p:sp>
        <p:nvSpPr>
          <p:cNvPr id="10" name="Shape 8"/>
          <p:cNvSpPr/>
          <p:nvPr/>
        </p:nvSpPr>
        <p:spPr>
          <a:xfrm>
            <a:off x="4663440" y="960120"/>
            <a:ext cx="4206240" cy="3840480"/>
          </a:xfrm>
          <a:prstGeom prst="roundRect">
            <a:avLst>
              <a:gd name="adj" fmla="val 2857"/>
            </a:avLst>
          </a:prstGeom>
          <a:solidFill>
            <a:srgbClr val="FFFFFF"/>
          </a:solidFill>
          <a:ln w="19050">
            <a:solidFill>
              <a:srgbClr val="F5C6CB"/>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663440" y="960120"/>
            <a:ext cx="4206240" cy="457200"/>
          </a:xfrm>
          <a:prstGeom prst="roundRect">
            <a:avLst>
              <a:gd name="adj" fmla="val 24000"/>
            </a:avLst>
          </a:prstGeom>
          <a:solidFill>
            <a:srgbClr val="E05A5A"/>
          </a:solidFill>
          <a:ln w="12700">
            <a:solidFill>
              <a:srgbClr val="E05A5A"/>
            </a:solidFill>
            <a:prstDash val="solid"/>
          </a:ln>
        </p:spPr>
      </p:sp>
      <p:sp>
        <p:nvSpPr>
          <p:cNvPr id="12" name="Text 10"/>
          <p:cNvSpPr/>
          <p:nvPr/>
        </p:nvSpPr>
        <p:spPr>
          <a:xfrm>
            <a:off x="475488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Disadvantages</a:t>
            </a:r>
            <a:endParaRPr lang="en-US" sz="1400" dirty="0"/>
          </a:p>
        </p:txBody>
      </p:sp>
      <p:sp>
        <p:nvSpPr>
          <p:cNvPr id="13" name="Text 11"/>
          <p:cNvSpPr/>
          <p:nvPr/>
        </p:nvSpPr>
        <p:spPr>
          <a:xfrm>
            <a:off x="4846320" y="1508760"/>
            <a:ext cx="3840480" cy="3108960"/>
          </a:xfrm>
          <a:prstGeom prst="rect">
            <a:avLst/>
          </a:prstGeom>
          <a:noFill/>
          <a:ln/>
        </p:spPr>
        <p:txBody>
          <a:bodyPr wrap="square" rtlCol="0" anchor="t"/>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More computationally expensive than DBSCAN</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Reachability plot can be difficult to interpret automatically</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Extracting exact clusters still requires parameter choices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Slower on very large datasets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Not widely supported in all ML frameworks</a:t>
            </a:r>
            <a:endParaRPr lang="en-US" sz="1250" dirty="0"/>
          </a:p>
        </p:txBody>
      </p:sp>
      <p:sp>
        <p:nvSpPr>
          <p:cNvPr id="14" name="Text 12"/>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2 of 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OPTICS</a:t>
            </a:r>
            <a:endParaRPr lang="en-US" sz="3000" dirty="0"/>
          </a:p>
        </p:txBody>
      </p:sp>
      <p:sp>
        <p:nvSpPr>
          <p:cNvPr id="4" name="Shape 2"/>
          <p:cNvSpPr/>
          <p:nvPr/>
        </p:nvSpPr>
        <p:spPr>
          <a:xfrm>
            <a:off x="6583680" y="137160"/>
            <a:ext cx="2286000" cy="502920"/>
          </a:xfrm>
          <a:prstGeom prst="roundRect">
            <a:avLst>
              <a:gd name="adj" fmla="val 18182"/>
            </a:avLst>
          </a:prstGeom>
          <a:solidFill>
            <a:srgbClr val="7C3AED"/>
          </a:solidFill>
          <a:ln w="12700">
            <a:solidFill>
              <a:srgbClr val="7C3AED"/>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 Code</a:t>
            </a:r>
            <a:endParaRPr lang="en-US" sz="1100" dirty="0"/>
          </a:p>
        </p:txBody>
      </p:sp>
      <p:sp>
        <p:nvSpPr>
          <p:cNvPr id="6" name="Shape 4"/>
          <p:cNvSpPr/>
          <p:nvPr/>
        </p:nvSpPr>
        <p:spPr>
          <a:xfrm>
            <a:off x="274320" y="960120"/>
            <a:ext cx="8595360" cy="3566160"/>
          </a:xfrm>
          <a:prstGeom prst="roundRect">
            <a:avLst>
              <a:gd name="adj" fmla="val 3077"/>
            </a:avLst>
          </a:prstGeom>
          <a:solidFill>
            <a:srgbClr val="1E293B"/>
          </a:solidFill>
          <a:ln w="12700">
            <a:solidFill>
              <a:srgbClr val="0D1929"/>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02920" y="1005840"/>
            <a:ext cx="8138160" cy="274320"/>
          </a:xfrm>
          <a:prstGeom prst="rect">
            <a:avLst/>
          </a:prstGeom>
          <a:noFill/>
          <a:ln/>
        </p:spPr>
        <p:txBody>
          <a:bodyPr wrap="square" rtlCol="0" anchor="ctr"/>
          <a:lstStyle/>
          <a:p>
            <a:pPr indent="0" marL="0">
              <a:buNone/>
            </a:pPr>
            <a:r>
              <a:rPr lang="en-US" sz="1100" i="1" dirty="0">
                <a:solidFill>
                  <a:srgbClr val="6B8CAE"/>
                </a:solidFill>
                <a:latin typeface="Courier New" pitchFamily="34" charset="0"/>
                <a:ea typeface="Courier New" pitchFamily="34" charset="-122"/>
                <a:cs typeface="Courier New" pitchFamily="34" charset="-120"/>
              </a:rPr>
              <a:t># Python Implementation</a:t>
            </a:r>
            <a:endParaRPr lang="en-US" sz="1100" dirty="0"/>
          </a:p>
        </p:txBody>
      </p:sp>
      <p:sp>
        <p:nvSpPr>
          <p:cNvPr id="8" name="Text 6"/>
          <p:cNvSpPr/>
          <p:nvPr/>
        </p:nvSpPr>
        <p:spPr>
          <a:xfrm>
            <a:off x="502920" y="1280160"/>
            <a:ext cx="8138160" cy="3108960"/>
          </a:xfrm>
          <a:prstGeom prst="rect">
            <a:avLst/>
          </a:prstGeom>
          <a:noFill/>
          <a:ln/>
        </p:spPr>
        <p:txBody>
          <a:bodyPr wrap="square" rtlCol="0" anchor="t"/>
          <a:lstStyle/>
          <a:p>
            <a:pPr indent="0" marL="0">
              <a:buNone/>
            </a:pPr>
            <a:r>
              <a:rPr lang="en-US" sz="1150" dirty="0">
                <a:solidFill>
                  <a:srgbClr val="A8D8A8"/>
                </a:solidFill>
                <a:latin typeface="Courier New" pitchFamily="34" charset="0"/>
                <a:ea typeface="Courier New" pitchFamily="34" charset="-122"/>
                <a:cs typeface="Courier New" pitchFamily="34" charset="-120"/>
              </a:rPr>
              <a:t>from sklearn.cluster import OPTICS</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from sklearn.datasets import make_blobs</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import numpy as np</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X, _ = make_blobs(n_samples=300, centers=3, random_state=42)</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Fit OPTICS model</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model = OPTICS(</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min_samples=10,</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xi=0.05,          # Cluster steepness threshold</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min_cluster_size=0.1</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model.fit(X)</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labels = model.labels_</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reach_dist = model.reachability_[model.ordering_]</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print('Clusters found:', len(set(labels)) - (1 if -1 in labels else 0))</a:t>
            </a:r>
            <a:endParaRPr lang="en-US" sz="1150" dirty="0"/>
          </a:p>
        </p:txBody>
      </p:sp>
      <p:sp>
        <p:nvSpPr>
          <p:cNvPr id="9" name="Shape 7"/>
          <p:cNvSpPr/>
          <p:nvPr/>
        </p:nvSpPr>
        <p:spPr>
          <a:xfrm>
            <a:off x="274320" y="4663440"/>
            <a:ext cx="2651760" cy="365760"/>
          </a:xfrm>
          <a:prstGeom prst="roundRect">
            <a:avLst>
              <a:gd name="adj" fmla="val 25000"/>
            </a:avLst>
          </a:prstGeom>
          <a:solidFill>
            <a:srgbClr val="EDE9FE"/>
          </a:solidFill>
          <a:ln w="12700">
            <a:solidFill>
              <a:srgbClr val="C4B5FD"/>
            </a:solidFill>
            <a:prstDash val="solid"/>
          </a:ln>
        </p:spPr>
      </p:sp>
      <p:sp>
        <p:nvSpPr>
          <p:cNvPr id="10" name="Text 8"/>
          <p:cNvSpPr/>
          <p:nvPr/>
        </p:nvSpPr>
        <p:spPr>
          <a:xfrm>
            <a:off x="32004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xi controls valley detection</a:t>
            </a:r>
            <a:endParaRPr lang="en-US" sz="1050" dirty="0"/>
          </a:p>
        </p:txBody>
      </p:sp>
      <p:sp>
        <p:nvSpPr>
          <p:cNvPr id="11" name="Shape 9"/>
          <p:cNvSpPr/>
          <p:nvPr/>
        </p:nvSpPr>
        <p:spPr>
          <a:xfrm>
            <a:off x="3108960" y="4663440"/>
            <a:ext cx="2651760" cy="365760"/>
          </a:xfrm>
          <a:prstGeom prst="roundRect">
            <a:avLst>
              <a:gd name="adj" fmla="val 25000"/>
            </a:avLst>
          </a:prstGeom>
          <a:solidFill>
            <a:srgbClr val="EDE9FE"/>
          </a:solidFill>
          <a:ln w="12700">
            <a:solidFill>
              <a:srgbClr val="C4B5FD"/>
            </a:solidFill>
            <a:prstDash val="solid"/>
          </a:ln>
        </p:spPr>
      </p:sp>
      <p:sp>
        <p:nvSpPr>
          <p:cNvPr id="12" name="Text 10"/>
          <p:cNvSpPr/>
          <p:nvPr/>
        </p:nvSpPr>
        <p:spPr>
          <a:xfrm>
            <a:off x="315468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reachability_ for visual plot</a:t>
            </a:r>
            <a:endParaRPr lang="en-US" sz="1050" dirty="0"/>
          </a:p>
        </p:txBody>
      </p:sp>
      <p:sp>
        <p:nvSpPr>
          <p:cNvPr id="13" name="Shape 11"/>
          <p:cNvSpPr/>
          <p:nvPr/>
        </p:nvSpPr>
        <p:spPr>
          <a:xfrm>
            <a:off x="5943600" y="4663440"/>
            <a:ext cx="2651760" cy="365760"/>
          </a:xfrm>
          <a:prstGeom prst="roundRect">
            <a:avLst>
              <a:gd name="adj" fmla="val 25000"/>
            </a:avLst>
          </a:prstGeom>
          <a:solidFill>
            <a:srgbClr val="EDE9FE"/>
          </a:solidFill>
          <a:ln w="12700">
            <a:solidFill>
              <a:srgbClr val="C4B5FD"/>
            </a:solidFill>
            <a:prstDash val="solid"/>
          </a:ln>
        </p:spPr>
      </p:sp>
      <p:sp>
        <p:nvSpPr>
          <p:cNvPr id="14" name="Text 12"/>
          <p:cNvSpPr/>
          <p:nvPr/>
        </p:nvSpPr>
        <p:spPr>
          <a:xfrm>
            <a:off x="598932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ordering_ = traversal order</a:t>
            </a:r>
            <a:endParaRPr lang="en-US" sz="1050" dirty="0"/>
          </a:p>
        </p:txBody>
      </p:sp>
      <p:sp>
        <p:nvSpPr>
          <p:cNvPr id="15" name="Text 13"/>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3 of 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BIRCH</a:t>
            </a:r>
            <a:endParaRPr lang="en-US" sz="3000" dirty="0"/>
          </a:p>
        </p:txBody>
      </p:sp>
      <p:sp>
        <p:nvSpPr>
          <p:cNvPr id="4" name="Shape 2"/>
          <p:cNvSpPr/>
          <p:nvPr/>
        </p:nvSpPr>
        <p:spPr>
          <a:xfrm>
            <a:off x="6583680" y="137160"/>
            <a:ext cx="2286000" cy="502920"/>
          </a:xfrm>
          <a:prstGeom prst="roundRect">
            <a:avLst>
              <a:gd name="adj" fmla="val 18182"/>
            </a:avLst>
          </a:prstGeom>
          <a:solidFill>
            <a:srgbClr val="0E9F8E"/>
          </a:solidFill>
          <a:ln w="12700">
            <a:solidFill>
              <a:srgbClr val="0E9F8E"/>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Definition &amp; Diagram</a:t>
            </a:r>
            <a:endParaRPr lang="en-US" sz="1100" dirty="0"/>
          </a:p>
        </p:txBody>
      </p:sp>
      <p:sp>
        <p:nvSpPr>
          <p:cNvPr id="6" name="Shape 4"/>
          <p:cNvSpPr/>
          <p:nvPr/>
        </p:nvSpPr>
        <p:spPr>
          <a:xfrm>
            <a:off x="274320" y="960120"/>
            <a:ext cx="4663440" cy="3840480"/>
          </a:xfrm>
          <a:prstGeom prst="roundRect">
            <a:avLst>
              <a:gd name="adj" fmla="val 2857"/>
            </a:avLst>
          </a:prstGeom>
          <a:solidFill>
            <a:srgbClr val="FFFFFF"/>
          </a:solidFill>
          <a:ln w="12700">
            <a:solidFill>
              <a:srgbClr val="D4E0F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57200" y="1051560"/>
            <a:ext cx="4297680" cy="365760"/>
          </a:xfrm>
          <a:prstGeom prst="rect">
            <a:avLst/>
          </a:prstGeom>
          <a:noFill/>
          <a:ln/>
        </p:spPr>
        <p:txBody>
          <a:bodyPr wrap="square" lIns="0" tIns="0" rIns="0" bIns="0" rtlCol="0" anchor="ctr"/>
          <a:lstStyle/>
          <a:p>
            <a:pPr indent="0" marL="0">
              <a:buNone/>
            </a:pPr>
            <a:r>
              <a:rPr lang="en-US" sz="1400" b="1" dirty="0">
                <a:solidFill>
                  <a:srgbClr val="0E9F8E"/>
                </a:solidFill>
                <a:latin typeface="Calibri" pitchFamily="34" charset="0"/>
                <a:ea typeface="Calibri" pitchFamily="34" charset="-122"/>
                <a:cs typeface="Calibri" pitchFamily="34" charset="-120"/>
              </a:rPr>
              <a:t>What is it?</a:t>
            </a:r>
            <a:endParaRPr lang="en-US" sz="1400" dirty="0"/>
          </a:p>
        </p:txBody>
      </p:sp>
      <p:sp>
        <p:nvSpPr>
          <p:cNvPr id="8" name="Text 6"/>
          <p:cNvSpPr/>
          <p:nvPr/>
        </p:nvSpPr>
        <p:spPr>
          <a:xfrm>
            <a:off x="457200" y="1463040"/>
            <a:ext cx="4297680" cy="30175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BIRCH (Balanced Iterative Reducing and Clustering using Hierarchies) is designed for large datasets. It builds a Clustering Feature Tree (CF Tree), a compact height-balanced tree that summarizes the dataset. Each node stores a Clustering Feature (CF) — a tuple of (n, LS, SS) representing count, linear sum, and squared sum — enabling incremental, single-pass clustering with limited memory.</a:t>
            </a:r>
            <a:endParaRPr lang="en-US" sz="1300" dirty="0"/>
          </a:p>
        </p:txBody>
      </p:sp>
      <p:sp>
        <p:nvSpPr>
          <p:cNvPr id="9" name="Shape 7"/>
          <p:cNvSpPr/>
          <p:nvPr/>
        </p:nvSpPr>
        <p:spPr>
          <a:xfrm>
            <a:off x="5120640" y="960120"/>
            <a:ext cx="3749040" cy="3840480"/>
          </a:xfrm>
          <a:prstGeom prst="roundRect">
            <a:avLst>
              <a:gd name="adj" fmla="val 2927"/>
            </a:avLst>
          </a:prstGeom>
          <a:solidFill>
            <a:srgbClr val="FFFFFF"/>
          </a:solidFill>
          <a:ln w="12700">
            <a:solidFill>
              <a:srgbClr val="D4E0F0"/>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303520" y="1051560"/>
            <a:ext cx="3383280" cy="320040"/>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Visual Diagram</a:t>
            </a:r>
            <a:endParaRPr lang="en-US" sz="1200" dirty="0"/>
          </a:p>
        </p:txBody>
      </p:sp>
      <p:sp>
        <p:nvSpPr>
          <p:cNvPr id="11" name="Shape 9"/>
          <p:cNvSpPr/>
          <p:nvPr/>
        </p:nvSpPr>
        <p:spPr>
          <a:xfrm>
            <a:off x="6675120" y="1691640"/>
            <a:ext cx="822960" cy="411480"/>
          </a:xfrm>
          <a:prstGeom prst="roundRect">
            <a:avLst>
              <a:gd name="adj" fmla="val 17778"/>
            </a:avLst>
          </a:prstGeom>
          <a:solidFill>
            <a:srgbClr val="1A2B5F"/>
          </a:solidFill>
          <a:ln w="12700">
            <a:solidFill>
              <a:srgbClr val="1A2B5F"/>
            </a:solidFill>
            <a:prstDash val="solid"/>
          </a:ln>
        </p:spPr>
      </p:sp>
      <p:sp>
        <p:nvSpPr>
          <p:cNvPr id="12" name="Text 10"/>
          <p:cNvSpPr/>
          <p:nvPr/>
        </p:nvSpPr>
        <p:spPr>
          <a:xfrm>
            <a:off x="6675120" y="1691640"/>
            <a:ext cx="822960" cy="4114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Root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(CF)</a:t>
            </a:r>
            <a:endParaRPr lang="en-US" sz="900" dirty="0"/>
          </a:p>
        </p:txBody>
      </p:sp>
      <p:sp>
        <p:nvSpPr>
          <p:cNvPr id="13" name="Shape 11"/>
          <p:cNvSpPr/>
          <p:nvPr/>
        </p:nvSpPr>
        <p:spPr>
          <a:xfrm>
            <a:off x="5577840" y="2423160"/>
            <a:ext cx="777240" cy="411480"/>
          </a:xfrm>
          <a:prstGeom prst="roundRect">
            <a:avLst>
              <a:gd name="adj" fmla="val 17778"/>
            </a:avLst>
          </a:prstGeom>
          <a:solidFill>
            <a:srgbClr val="0E9F8E"/>
          </a:solidFill>
          <a:ln w="12700">
            <a:solidFill>
              <a:srgbClr val="0E9F8E"/>
            </a:solidFill>
            <a:prstDash val="solid"/>
          </a:ln>
        </p:spPr>
      </p:sp>
      <p:sp>
        <p:nvSpPr>
          <p:cNvPr id="14" name="Text 12"/>
          <p:cNvSpPr/>
          <p:nvPr/>
        </p:nvSpPr>
        <p:spPr>
          <a:xfrm>
            <a:off x="5577840" y="2423160"/>
            <a:ext cx="777240" cy="4114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CF</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Node</a:t>
            </a:r>
            <a:endParaRPr lang="en-US" sz="900" dirty="0"/>
          </a:p>
        </p:txBody>
      </p:sp>
      <p:sp>
        <p:nvSpPr>
          <p:cNvPr id="15" name="Shape 13"/>
          <p:cNvSpPr/>
          <p:nvPr/>
        </p:nvSpPr>
        <p:spPr>
          <a:xfrm>
            <a:off x="7086600" y="2103120"/>
            <a:ext cx="-1120140" cy="320040"/>
          </a:xfrm>
          <a:prstGeom prst="line">
            <a:avLst/>
          </a:prstGeom>
          <a:noFill/>
          <a:ln w="12700">
            <a:solidFill>
              <a:srgbClr val="AAAAAA"/>
            </a:solidFill>
            <a:prstDash val="solid"/>
          </a:ln>
        </p:spPr>
      </p:sp>
      <p:sp>
        <p:nvSpPr>
          <p:cNvPr id="16" name="Shape 14"/>
          <p:cNvSpPr/>
          <p:nvPr/>
        </p:nvSpPr>
        <p:spPr>
          <a:xfrm>
            <a:off x="6675120" y="2423160"/>
            <a:ext cx="777240" cy="411480"/>
          </a:xfrm>
          <a:prstGeom prst="roundRect">
            <a:avLst>
              <a:gd name="adj" fmla="val 17778"/>
            </a:avLst>
          </a:prstGeom>
          <a:solidFill>
            <a:srgbClr val="0E9F8E"/>
          </a:solidFill>
          <a:ln w="12700">
            <a:solidFill>
              <a:srgbClr val="0E9F8E"/>
            </a:solidFill>
            <a:prstDash val="solid"/>
          </a:ln>
        </p:spPr>
      </p:sp>
      <p:sp>
        <p:nvSpPr>
          <p:cNvPr id="17" name="Text 15"/>
          <p:cNvSpPr/>
          <p:nvPr/>
        </p:nvSpPr>
        <p:spPr>
          <a:xfrm>
            <a:off x="6675120" y="2423160"/>
            <a:ext cx="777240" cy="4114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CF</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Node</a:t>
            </a:r>
            <a:endParaRPr lang="en-US" sz="900" dirty="0"/>
          </a:p>
        </p:txBody>
      </p:sp>
      <p:sp>
        <p:nvSpPr>
          <p:cNvPr id="18" name="Shape 16"/>
          <p:cNvSpPr/>
          <p:nvPr/>
        </p:nvSpPr>
        <p:spPr>
          <a:xfrm>
            <a:off x="7086600" y="2103120"/>
            <a:ext cx="-22860" cy="320040"/>
          </a:xfrm>
          <a:prstGeom prst="line">
            <a:avLst/>
          </a:prstGeom>
          <a:noFill/>
          <a:ln w="12700">
            <a:solidFill>
              <a:srgbClr val="AAAAAA"/>
            </a:solidFill>
            <a:prstDash val="solid"/>
          </a:ln>
        </p:spPr>
      </p:sp>
      <p:sp>
        <p:nvSpPr>
          <p:cNvPr id="19" name="Shape 17"/>
          <p:cNvSpPr/>
          <p:nvPr/>
        </p:nvSpPr>
        <p:spPr>
          <a:xfrm>
            <a:off x="7863840" y="2423160"/>
            <a:ext cx="777240" cy="411480"/>
          </a:xfrm>
          <a:prstGeom prst="roundRect">
            <a:avLst>
              <a:gd name="adj" fmla="val 17778"/>
            </a:avLst>
          </a:prstGeom>
          <a:solidFill>
            <a:srgbClr val="0E9F8E"/>
          </a:solidFill>
          <a:ln w="12700">
            <a:solidFill>
              <a:srgbClr val="0E9F8E"/>
            </a:solidFill>
            <a:prstDash val="solid"/>
          </a:ln>
        </p:spPr>
      </p:sp>
      <p:sp>
        <p:nvSpPr>
          <p:cNvPr id="20" name="Text 18"/>
          <p:cNvSpPr/>
          <p:nvPr/>
        </p:nvSpPr>
        <p:spPr>
          <a:xfrm>
            <a:off x="7863840" y="2423160"/>
            <a:ext cx="777240" cy="4114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CF</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Node</a:t>
            </a:r>
            <a:endParaRPr lang="en-US" sz="900" dirty="0"/>
          </a:p>
        </p:txBody>
      </p:sp>
      <p:sp>
        <p:nvSpPr>
          <p:cNvPr id="21" name="Shape 19"/>
          <p:cNvSpPr/>
          <p:nvPr/>
        </p:nvSpPr>
        <p:spPr>
          <a:xfrm>
            <a:off x="7086600" y="2103120"/>
            <a:ext cx="1165860" cy="320040"/>
          </a:xfrm>
          <a:prstGeom prst="line">
            <a:avLst/>
          </a:prstGeom>
          <a:noFill/>
          <a:ln w="12700">
            <a:solidFill>
              <a:srgbClr val="AAAAAA"/>
            </a:solidFill>
            <a:prstDash val="solid"/>
          </a:ln>
        </p:spPr>
      </p:sp>
      <p:sp>
        <p:nvSpPr>
          <p:cNvPr id="22" name="Shape 20"/>
          <p:cNvSpPr/>
          <p:nvPr/>
        </p:nvSpPr>
        <p:spPr>
          <a:xfrm>
            <a:off x="5212080" y="3337560"/>
            <a:ext cx="594360" cy="365760"/>
          </a:xfrm>
          <a:prstGeom prst="roundRect">
            <a:avLst>
              <a:gd name="adj" fmla="val 20000"/>
            </a:avLst>
          </a:prstGeom>
          <a:solidFill>
            <a:srgbClr val="F0A500"/>
          </a:solidFill>
          <a:ln w="12700">
            <a:solidFill>
              <a:srgbClr val="F0A500"/>
            </a:solidFill>
            <a:prstDash val="solid"/>
          </a:ln>
        </p:spPr>
      </p:sp>
      <p:sp>
        <p:nvSpPr>
          <p:cNvPr id="23" name="Text 21"/>
          <p:cNvSpPr/>
          <p:nvPr/>
        </p:nvSpPr>
        <p:spPr>
          <a:xfrm>
            <a:off x="5212080" y="3337560"/>
            <a:ext cx="59436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Leaf</a:t>
            </a:r>
            <a:endParaRPr lang="en-US" sz="900" dirty="0"/>
          </a:p>
        </p:txBody>
      </p:sp>
      <p:sp>
        <p:nvSpPr>
          <p:cNvPr id="24" name="Shape 22"/>
          <p:cNvSpPr/>
          <p:nvPr/>
        </p:nvSpPr>
        <p:spPr>
          <a:xfrm>
            <a:off x="5966460" y="2834640"/>
            <a:ext cx="-457200" cy="502920"/>
          </a:xfrm>
          <a:prstGeom prst="line">
            <a:avLst/>
          </a:prstGeom>
          <a:noFill/>
          <a:ln w="12700">
            <a:solidFill>
              <a:srgbClr val="AAAAAA"/>
            </a:solidFill>
            <a:prstDash val="solid"/>
          </a:ln>
        </p:spPr>
      </p:sp>
      <p:sp>
        <p:nvSpPr>
          <p:cNvPr id="25" name="Shape 23"/>
          <p:cNvSpPr/>
          <p:nvPr/>
        </p:nvSpPr>
        <p:spPr>
          <a:xfrm>
            <a:off x="5943600" y="3337560"/>
            <a:ext cx="594360" cy="365760"/>
          </a:xfrm>
          <a:prstGeom prst="roundRect">
            <a:avLst>
              <a:gd name="adj" fmla="val 20000"/>
            </a:avLst>
          </a:prstGeom>
          <a:solidFill>
            <a:srgbClr val="F0A500"/>
          </a:solidFill>
          <a:ln w="12700">
            <a:solidFill>
              <a:srgbClr val="F0A500"/>
            </a:solidFill>
            <a:prstDash val="solid"/>
          </a:ln>
        </p:spPr>
      </p:sp>
      <p:sp>
        <p:nvSpPr>
          <p:cNvPr id="26" name="Text 24"/>
          <p:cNvSpPr/>
          <p:nvPr/>
        </p:nvSpPr>
        <p:spPr>
          <a:xfrm>
            <a:off x="5943600" y="3337560"/>
            <a:ext cx="59436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Leaf</a:t>
            </a:r>
            <a:endParaRPr lang="en-US" sz="900" dirty="0"/>
          </a:p>
        </p:txBody>
      </p:sp>
      <p:sp>
        <p:nvSpPr>
          <p:cNvPr id="27" name="Shape 25"/>
          <p:cNvSpPr/>
          <p:nvPr/>
        </p:nvSpPr>
        <p:spPr>
          <a:xfrm>
            <a:off x="5966460" y="2834640"/>
            <a:ext cx="274320" cy="502920"/>
          </a:xfrm>
          <a:prstGeom prst="line">
            <a:avLst/>
          </a:prstGeom>
          <a:noFill/>
          <a:ln w="12700">
            <a:solidFill>
              <a:srgbClr val="AAAAAA"/>
            </a:solidFill>
            <a:prstDash val="solid"/>
          </a:ln>
        </p:spPr>
      </p:sp>
      <p:sp>
        <p:nvSpPr>
          <p:cNvPr id="28" name="Shape 26"/>
          <p:cNvSpPr/>
          <p:nvPr/>
        </p:nvSpPr>
        <p:spPr>
          <a:xfrm>
            <a:off x="6583680" y="3337560"/>
            <a:ext cx="594360" cy="365760"/>
          </a:xfrm>
          <a:prstGeom prst="roundRect">
            <a:avLst>
              <a:gd name="adj" fmla="val 20000"/>
            </a:avLst>
          </a:prstGeom>
          <a:solidFill>
            <a:srgbClr val="F0A500"/>
          </a:solidFill>
          <a:ln w="12700">
            <a:solidFill>
              <a:srgbClr val="F0A500"/>
            </a:solidFill>
            <a:prstDash val="solid"/>
          </a:ln>
        </p:spPr>
      </p:sp>
      <p:sp>
        <p:nvSpPr>
          <p:cNvPr id="29" name="Text 27"/>
          <p:cNvSpPr/>
          <p:nvPr/>
        </p:nvSpPr>
        <p:spPr>
          <a:xfrm>
            <a:off x="6583680" y="3337560"/>
            <a:ext cx="59436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Leaf</a:t>
            </a:r>
            <a:endParaRPr lang="en-US" sz="900" dirty="0"/>
          </a:p>
        </p:txBody>
      </p:sp>
      <p:sp>
        <p:nvSpPr>
          <p:cNvPr id="30" name="Shape 28"/>
          <p:cNvSpPr/>
          <p:nvPr/>
        </p:nvSpPr>
        <p:spPr>
          <a:xfrm>
            <a:off x="7063740" y="2834640"/>
            <a:ext cx="-182880" cy="502920"/>
          </a:xfrm>
          <a:prstGeom prst="line">
            <a:avLst/>
          </a:prstGeom>
          <a:noFill/>
          <a:ln w="12700">
            <a:solidFill>
              <a:srgbClr val="AAAAAA"/>
            </a:solidFill>
            <a:prstDash val="solid"/>
          </a:ln>
        </p:spPr>
      </p:sp>
      <p:sp>
        <p:nvSpPr>
          <p:cNvPr id="31" name="Shape 29"/>
          <p:cNvSpPr/>
          <p:nvPr/>
        </p:nvSpPr>
        <p:spPr>
          <a:xfrm>
            <a:off x="7315200" y="3337560"/>
            <a:ext cx="594360" cy="365760"/>
          </a:xfrm>
          <a:prstGeom prst="roundRect">
            <a:avLst>
              <a:gd name="adj" fmla="val 20000"/>
            </a:avLst>
          </a:prstGeom>
          <a:solidFill>
            <a:srgbClr val="F0A500"/>
          </a:solidFill>
          <a:ln w="12700">
            <a:solidFill>
              <a:srgbClr val="F0A500"/>
            </a:solidFill>
            <a:prstDash val="solid"/>
          </a:ln>
        </p:spPr>
      </p:sp>
      <p:sp>
        <p:nvSpPr>
          <p:cNvPr id="32" name="Text 30"/>
          <p:cNvSpPr/>
          <p:nvPr/>
        </p:nvSpPr>
        <p:spPr>
          <a:xfrm>
            <a:off x="7315200" y="3337560"/>
            <a:ext cx="59436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Leaf</a:t>
            </a:r>
            <a:endParaRPr lang="en-US" sz="900" dirty="0"/>
          </a:p>
        </p:txBody>
      </p:sp>
      <p:sp>
        <p:nvSpPr>
          <p:cNvPr id="33" name="Shape 31"/>
          <p:cNvSpPr/>
          <p:nvPr/>
        </p:nvSpPr>
        <p:spPr>
          <a:xfrm>
            <a:off x="7063740" y="2834640"/>
            <a:ext cx="548640" cy="502920"/>
          </a:xfrm>
          <a:prstGeom prst="line">
            <a:avLst/>
          </a:prstGeom>
          <a:noFill/>
          <a:ln w="12700">
            <a:solidFill>
              <a:srgbClr val="AAAAAA"/>
            </a:solidFill>
            <a:prstDash val="solid"/>
          </a:ln>
        </p:spPr>
      </p:sp>
      <p:sp>
        <p:nvSpPr>
          <p:cNvPr id="34" name="Shape 32"/>
          <p:cNvSpPr/>
          <p:nvPr/>
        </p:nvSpPr>
        <p:spPr>
          <a:xfrm>
            <a:off x="7955280" y="3337560"/>
            <a:ext cx="594360" cy="365760"/>
          </a:xfrm>
          <a:prstGeom prst="roundRect">
            <a:avLst>
              <a:gd name="adj" fmla="val 20000"/>
            </a:avLst>
          </a:prstGeom>
          <a:solidFill>
            <a:srgbClr val="F0A500"/>
          </a:solidFill>
          <a:ln w="12700">
            <a:solidFill>
              <a:srgbClr val="F0A500"/>
            </a:solidFill>
            <a:prstDash val="solid"/>
          </a:ln>
        </p:spPr>
      </p:sp>
      <p:sp>
        <p:nvSpPr>
          <p:cNvPr id="35" name="Text 33"/>
          <p:cNvSpPr/>
          <p:nvPr/>
        </p:nvSpPr>
        <p:spPr>
          <a:xfrm>
            <a:off x="7955280" y="3337560"/>
            <a:ext cx="59436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Leaf</a:t>
            </a:r>
            <a:endParaRPr lang="en-US" sz="900" dirty="0"/>
          </a:p>
        </p:txBody>
      </p:sp>
      <p:sp>
        <p:nvSpPr>
          <p:cNvPr id="36" name="Shape 34"/>
          <p:cNvSpPr/>
          <p:nvPr/>
        </p:nvSpPr>
        <p:spPr>
          <a:xfrm>
            <a:off x="8252460" y="2834640"/>
            <a:ext cx="0" cy="502920"/>
          </a:xfrm>
          <a:prstGeom prst="line">
            <a:avLst/>
          </a:prstGeom>
          <a:noFill/>
          <a:ln w="12700">
            <a:solidFill>
              <a:srgbClr val="AAAAAA"/>
            </a:solidFill>
            <a:prstDash val="solid"/>
          </a:ln>
        </p:spPr>
      </p:sp>
      <p:sp>
        <p:nvSpPr>
          <p:cNvPr id="37" name="Text 35"/>
          <p:cNvSpPr/>
          <p:nvPr/>
        </p:nvSpPr>
        <p:spPr>
          <a:xfrm>
            <a:off x="5303520" y="4343400"/>
            <a:ext cx="3383280" cy="27432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CF = (N, LS, SS)</a:t>
            </a:r>
            <a:endParaRPr lang="en-US" sz="950" dirty="0"/>
          </a:p>
        </p:txBody>
      </p:sp>
      <p:sp>
        <p:nvSpPr>
          <p:cNvPr id="38" name="Text 36"/>
          <p:cNvSpPr/>
          <p:nvPr/>
        </p:nvSpPr>
        <p:spPr>
          <a:xfrm>
            <a:off x="5303520" y="4617720"/>
            <a:ext cx="3383280" cy="25603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N=count  LS=linear sum  SS=sq. sum</a:t>
            </a:r>
            <a:endParaRPr lang="en-US" sz="850" dirty="0"/>
          </a:p>
        </p:txBody>
      </p:sp>
      <p:sp>
        <p:nvSpPr>
          <p:cNvPr id="39" name="Text 37"/>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1 of 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BIRCH</a:t>
            </a:r>
            <a:endParaRPr lang="en-US" sz="3000" dirty="0"/>
          </a:p>
        </p:txBody>
      </p:sp>
      <p:sp>
        <p:nvSpPr>
          <p:cNvPr id="4" name="Shape 2"/>
          <p:cNvSpPr/>
          <p:nvPr/>
        </p:nvSpPr>
        <p:spPr>
          <a:xfrm>
            <a:off x="6583680" y="137160"/>
            <a:ext cx="2286000" cy="502920"/>
          </a:xfrm>
          <a:prstGeom prst="roundRect">
            <a:avLst>
              <a:gd name="adj" fmla="val 18182"/>
            </a:avLst>
          </a:prstGeom>
          <a:solidFill>
            <a:srgbClr val="F0A500"/>
          </a:solidFill>
          <a:ln w="12700">
            <a:solidFill>
              <a:srgbClr val="F0A500"/>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Pros &amp; Cons</a:t>
            </a:r>
            <a:endParaRPr lang="en-US" sz="1100" dirty="0"/>
          </a:p>
        </p:txBody>
      </p:sp>
      <p:sp>
        <p:nvSpPr>
          <p:cNvPr id="6" name="Shape 4"/>
          <p:cNvSpPr/>
          <p:nvPr/>
        </p:nvSpPr>
        <p:spPr>
          <a:xfrm>
            <a:off x="274320" y="960120"/>
            <a:ext cx="4206240" cy="3840480"/>
          </a:xfrm>
          <a:prstGeom prst="roundRect">
            <a:avLst>
              <a:gd name="adj" fmla="val 2857"/>
            </a:avLst>
          </a:prstGeom>
          <a:solidFill>
            <a:srgbClr val="FFFFFF"/>
          </a:solidFill>
          <a:ln w="19050">
            <a:solidFill>
              <a:srgbClr val="C3E6CB"/>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274320" y="960120"/>
            <a:ext cx="4206240" cy="457200"/>
          </a:xfrm>
          <a:prstGeom prst="roundRect">
            <a:avLst>
              <a:gd name="adj" fmla="val 24000"/>
            </a:avLst>
          </a:prstGeom>
          <a:solidFill>
            <a:srgbClr val="0E9F8E"/>
          </a:solidFill>
          <a:ln w="12700">
            <a:solidFill>
              <a:srgbClr val="0E9F8E"/>
            </a:solidFill>
            <a:prstDash val="solid"/>
          </a:ln>
        </p:spPr>
      </p:sp>
      <p:sp>
        <p:nvSpPr>
          <p:cNvPr id="8" name="Text 6"/>
          <p:cNvSpPr/>
          <p:nvPr/>
        </p:nvSpPr>
        <p:spPr>
          <a:xfrm>
            <a:off x="36576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Advantages</a:t>
            </a:r>
            <a:endParaRPr lang="en-US" sz="1400" dirty="0"/>
          </a:p>
        </p:txBody>
      </p:sp>
      <p:sp>
        <p:nvSpPr>
          <p:cNvPr id="9" name="Text 7"/>
          <p:cNvSpPr/>
          <p:nvPr/>
        </p:nvSpPr>
        <p:spPr>
          <a:xfrm>
            <a:off x="457200" y="1508760"/>
            <a:ext cx="3840480" cy="3108960"/>
          </a:xfrm>
          <a:prstGeom prst="rect">
            <a:avLst/>
          </a:prstGeom>
          <a:noFill/>
          <a:ln/>
        </p:spPr>
        <p:txBody>
          <a:bodyPr wrap="square" rtlCol="0" anchor="t"/>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Highly scalable — designed for very large datasets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Single-pass algorithm: efficient memory and time usage</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Incrementally updates clusters as new data arrives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Handles noise/outliers through the CF tree structure</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Much faster than K-Means on large datasets</a:t>
            </a:r>
            <a:endParaRPr lang="en-US" sz="1250" dirty="0"/>
          </a:p>
        </p:txBody>
      </p:sp>
      <p:sp>
        <p:nvSpPr>
          <p:cNvPr id="10" name="Shape 8"/>
          <p:cNvSpPr/>
          <p:nvPr/>
        </p:nvSpPr>
        <p:spPr>
          <a:xfrm>
            <a:off x="4663440" y="960120"/>
            <a:ext cx="4206240" cy="3840480"/>
          </a:xfrm>
          <a:prstGeom prst="roundRect">
            <a:avLst>
              <a:gd name="adj" fmla="val 2857"/>
            </a:avLst>
          </a:prstGeom>
          <a:solidFill>
            <a:srgbClr val="FFFFFF"/>
          </a:solidFill>
          <a:ln w="19050">
            <a:solidFill>
              <a:srgbClr val="F5C6CB"/>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663440" y="960120"/>
            <a:ext cx="4206240" cy="457200"/>
          </a:xfrm>
          <a:prstGeom prst="roundRect">
            <a:avLst>
              <a:gd name="adj" fmla="val 24000"/>
            </a:avLst>
          </a:prstGeom>
          <a:solidFill>
            <a:srgbClr val="E05A5A"/>
          </a:solidFill>
          <a:ln w="12700">
            <a:solidFill>
              <a:srgbClr val="E05A5A"/>
            </a:solidFill>
            <a:prstDash val="solid"/>
          </a:ln>
        </p:spPr>
      </p:sp>
      <p:sp>
        <p:nvSpPr>
          <p:cNvPr id="12" name="Text 10"/>
          <p:cNvSpPr/>
          <p:nvPr/>
        </p:nvSpPr>
        <p:spPr>
          <a:xfrm>
            <a:off x="4754880" y="960120"/>
            <a:ext cx="402336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Disadvantages</a:t>
            </a:r>
            <a:endParaRPr lang="en-US" sz="1400" dirty="0"/>
          </a:p>
        </p:txBody>
      </p:sp>
      <p:sp>
        <p:nvSpPr>
          <p:cNvPr id="13" name="Text 11"/>
          <p:cNvSpPr/>
          <p:nvPr/>
        </p:nvSpPr>
        <p:spPr>
          <a:xfrm>
            <a:off x="4846320" y="1508760"/>
            <a:ext cx="3840480" cy="3108960"/>
          </a:xfrm>
          <a:prstGeom prst="rect">
            <a:avLst/>
          </a:prstGeom>
          <a:noFill/>
          <a:ln/>
        </p:spPr>
        <p:txBody>
          <a:bodyPr wrap="square" rtlCol="0" anchor="t"/>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Works best only with numeric, continuous features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Cluster quality depends heavily on threshold parameter (T)</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May not handle non-spherical clusters well</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Requires a second-pass clustering algorithm for best results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Less effective in very high-dimensional spaces</a:t>
            </a:r>
            <a:endParaRPr lang="en-US" sz="1250" dirty="0"/>
          </a:p>
        </p:txBody>
      </p:sp>
      <p:sp>
        <p:nvSpPr>
          <p:cNvPr id="14" name="Text 12"/>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2 of 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3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B5F"/>
          </a:solidFill>
          <a:ln w="12700">
            <a:solidFill>
              <a:srgbClr val="1A2B5F"/>
            </a:solidFill>
            <a:prstDash val="solid"/>
          </a:ln>
        </p:spPr>
      </p:sp>
      <p:sp>
        <p:nvSpPr>
          <p:cNvPr id="3" name="Text 1"/>
          <p:cNvSpPr/>
          <p:nvPr/>
        </p:nvSpPr>
        <p:spPr>
          <a:xfrm>
            <a:off x="274320" y="0"/>
            <a:ext cx="64008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BIRCH</a:t>
            </a:r>
            <a:endParaRPr lang="en-US" sz="3000" dirty="0"/>
          </a:p>
        </p:txBody>
      </p:sp>
      <p:sp>
        <p:nvSpPr>
          <p:cNvPr id="4" name="Shape 2"/>
          <p:cNvSpPr/>
          <p:nvPr/>
        </p:nvSpPr>
        <p:spPr>
          <a:xfrm>
            <a:off x="6583680" y="137160"/>
            <a:ext cx="2286000" cy="502920"/>
          </a:xfrm>
          <a:prstGeom prst="roundRect">
            <a:avLst>
              <a:gd name="adj" fmla="val 18182"/>
            </a:avLst>
          </a:prstGeom>
          <a:solidFill>
            <a:srgbClr val="7C3AED"/>
          </a:solidFill>
          <a:ln w="12700">
            <a:solidFill>
              <a:srgbClr val="7C3AED"/>
            </a:solidFill>
            <a:prstDash val="solid"/>
          </a:ln>
        </p:spPr>
      </p:sp>
      <p:sp>
        <p:nvSpPr>
          <p:cNvPr id="5" name="Text 3"/>
          <p:cNvSpPr/>
          <p:nvPr/>
        </p:nvSpPr>
        <p:spPr>
          <a:xfrm>
            <a:off x="6583680" y="137160"/>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 Code</a:t>
            </a:r>
            <a:endParaRPr lang="en-US" sz="1100" dirty="0"/>
          </a:p>
        </p:txBody>
      </p:sp>
      <p:sp>
        <p:nvSpPr>
          <p:cNvPr id="6" name="Shape 4"/>
          <p:cNvSpPr/>
          <p:nvPr/>
        </p:nvSpPr>
        <p:spPr>
          <a:xfrm>
            <a:off x="274320" y="960120"/>
            <a:ext cx="8595360" cy="3566160"/>
          </a:xfrm>
          <a:prstGeom prst="roundRect">
            <a:avLst>
              <a:gd name="adj" fmla="val 3077"/>
            </a:avLst>
          </a:prstGeom>
          <a:solidFill>
            <a:srgbClr val="1E293B"/>
          </a:solidFill>
          <a:ln w="12700">
            <a:solidFill>
              <a:srgbClr val="0D1929"/>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02920" y="1005840"/>
            <a:ext cx="8138160" cy="274320"/>
          </a:xfrm>
          <a:prstGeom prst="rect">
            <a:avLst/>
          </a:prstGeom>
          <a:noFill/>
          <a:ln/>
        </p:spPr>
        <p:txBody>
          <a:bodyPr wrap="square" rtlCol="0" anchor="ctr"/>
          <a:lstStyle/>
          <a:p>
            <a:pPr indent="0" marL="0">
              <a:buNone/>
            </a:pPr>
            <a:r>
              <a:rPr lang="en-US" sz="1100" i="1" dirty="0">
                <a:solidFill>
                  <a:srgbClr val="6B8CAE"/>
                </a:solidFill>
                <a:latin typeface="Courier New" pitchFamily="34" charset="0"/>
                <a:ea typeface="Courier New" pitchFamily="34" charset="-122"/>
                <a:cs typeface="Courier New" pitchFamily="34" charset="-120"/>
              </a:rPr>
              <a:t># Python Implementation</a:t>
            </a:r>
            <a:endParaRPr lang="en-US" sz="1100" dirty="0"/>
          </a:p>
        </p:txBody>
      </p:sp>
      <p:sp>
        <p:nvSpPr>
          <p:cNvPr id="8" name="Text 6"/>
          <p:cNvSpPr/>
          <p:nvPr/>
        </p:nvSpPr>
        <p:spPr>
          <a:xfrm>
            <a:off x="502920" y="1280160"/>
            <a:ext cx="8138160" cy="3108960"/>
          </a:xfrm>
          <a:prstGeom prst="rect">
            <a:avLst/>
          </a:prstGeom>
          <a:noFill/>
          <a:ln/>
        </p:spPr>
        <p:txBody>
          <a:bodyPr wrap="square" rtlCol="0" anchor="t"/>
          <a:lstStyle/>
          <a:p>
            <a:pPr indent="0" marL="0">
              <a:buNone/>
            </a:pPr>
            <a:r>
              <a:rPr lang="en-US" sz="1150" dirty="0">
                <a:solidFill>
                  <a:srgbClr val="A8D8A8"/>
                </a:solidFill>
                <a:latin typeface="Courier New" pitchFamily="34" charset="0"/>
                <a:ea typeface="Courier New" pitchFamily="34" charset="-122"/>
                <a:cs typeface="Courier New" pitchFamily="34" charset="-120"/>
              </a:rPr>
              <a:t>from sklearn.cluster import Birch</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from sklearn.datasets import make_blobs</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import numpy as np</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Large dataset simulation</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X, _ = make_blobs(n_samples=10000, centers=5, random_state=42)</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Fit BIRCH model</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model = Birch(</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threshold=0.5,    # Max radius of each sub-cluster</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branching_factor=50,</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    n_clusters=5      # Final cluster count</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labels = model.fit_predict(X)</a:t>
            </a:r>
            <a:endParaRPr lang="en-US" sz="1150" dirty="0"/>
          </a:p>
          <a:p>
            <a:pPr indent="0" marL="0">
              <a:buNone/>
            </a:pP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print('Unique clusters:', np.unique(labels))</a:t>
            </a:r>
            <a:endParaRPr lang="en-US" sz="1150" dirty="0"/>
          </a:p>
          <a:p>
            <a:pPr indent="0" marL="0">
              <a:buNone/>
            </a:pPr>
            <a:r>
              <a:rPr lang="en-US" sz="1150" dirty="0">
                <a:solidFill>
                  <a:srgbClr val="A8D8A8"/>
                </a:solidFill>
                <a:latin typeface="Courier New" pitchFamily="34" charset="0"/>
                <a:ea typeface="Courier New" pitchFamily="34" charset="-122"/>
                <a:cs typeface="Courier New" pitchFamily="34" charset="-120"/>
              </a:rPr>
              <a:t>print('Subcluster count:', model.subcluster_labels_.shape)</a:t>
            </a:r>
            <a:endParaRPr lang="en-US" sz="1150" dirty="0"/>
          </a:p>
        </p:txBody>
      </p:sp>
      <p:sp>
        <p:nvSpPr>
          <p:cNvPr id="9" name="Shape 7"/>
          <p:cNvSpPr/>
          <p:nvPr/>
        </p:nvSpPr>
        <p:spPr>
          <a:xfrm>
            <a:off x="274320" y="4663440"/>
            <a:ext cx="2651760" cy="365760"/>
          </a:xfrm>
          <a:prstGeom prst="roundRect">
            <a:avLst>
              <a:gd name="adj" fmla="val 25000"/>
            </a:avLst>
          </a:prstGeom>
          <a:solidFill>
            <a:srgbClr val="EDE9FE"/>
          </a:solidFill>
          <a:ln w="12700">
            <a:solidFill>
              <a:srgbClr val="C4B5FD"/>
            </a:solidFill>
            <a:prstDash val="solid"/>
          </a:ln>
        </p:spPr>
      </p:sp>
      <p:sp>
        <p:nvSpPr>
          <p:cNvPr id="10" name="Text 8"/>
          <p:cNvSpPr/>
          <p:nvPr/>
        </p:nvSpPr>
        <p:spPr>
          <a:xfrm>
            <a:off x="32004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threshold controls CF node size</a:t>
            </a:r>
            <a:endParaRPr lang="en-US" sz="1050" dirty="0"/>
          </a:p>
        </p:txBody>
      </p:sp>
      <p:sp>
        <p:nvSpPr>
          <p:cNvPr id="11" name="Shape 9"/>
          <p:cNvSpPr/>
          <p:nvPr/>
        </p:nvSpPr>
        <p:spPr>
          <a:xfrm>
            <a:off x="3108960" y="4663440"/>
            <a:ext cx="2651760" cy="365760"/>
          </a:xfrm>
          <a:prstGeom prst="roundRect">
            <a:avLst>
              <a:gd name="adj" fmla="val 25000"/>
            </a:avLst>
          </a:prstGeom>
          <a:solidFill>
            <a:srgbClr val="EDE9FE"/>
          </a:solidFill>
          <a:ln w="12700">
            <a:solidFill>
              <a:srgbClr val="C4B5FD"/>
            </a:solidFill>
            <a:prstDash val="solid"/>
          </a:ln>
        </p:spPr>
      </p:sp>
      <p:sp>
        <p:nvSpPr>
          <p:cNvPr id="12" name="Text 10"/>
          <p:cNvSpPr/>
          <p:nvPr/>
        </p:nvSpPr>
        <p:spPr>
          <a:xfrm>
            <a:off x="315468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branching_factor = tree width</a:t>
            </a:r>
            <a:endParaRPr lang="en-US" sz="1050" dirty="0"/>
          </a:p>
        </p:txBody>
      </p:sp>
      <p:sp>
        <p:nvSpPr>
          <p:cNvPr id="13" name="Shape 11"/>
          <p:cNvSpPr/>
          <p:nvPr/>
        </p:nvSpPr>
        <p:spPr>
          <a:xfrm>
            <a:off x="5943600" y="4663440"/>
            <a:ext cx="2651760" cy="365760"/>
          </a:xfrm>
          <a:prstGeom prst="roundRect">
            <a:avLst>
              <a:gd name="adj" fmla="val 25000"/>
            </a:avLst>
          </a:prstGeom>
          <a:solidFill>
            <a:srgbClr val="EDE9FE"/>
          </a:solidFill>
          <a:ln w="12700">
            <a:solidFill>
              <a:srgbClr val="C4B5FD"/>
            </a:solidFill>
            <a:prstDash val="solid"/>
          </a:ln>
        </p:spPr>
      </p:sp>
      <p:sp>
        <p:nvSpPr>
          <p:cNvPr id="14" name="Text 12"/>
          <p:cNvSpPr/>
          <p:nvPr/>
        </p:nvSpPr>
        <p:spPr>
          <a:xfrm>
            <a:off x="5989320" y="4663440"/>
            <a:ext cx="2560320" cy="365760"/>
          </a:xfrm>
          <a:prstGeom prst="rect">
            <a:avLst/>
          </a:prstGeom>
          <a:noFill/>
          <a:ln/>
        </p:spPr>
        <p:txBody>
          <a:bodyPr wrap="square" rtlCol="0" anchor="ctr"/>
          <a:lstStyle/>
          <a:p>
            <a:pPr algn="ctr" indent="0" marL="0">
              <a:buNone/>
            </a:pPr>
            <a:r>
              <a:rPr lang="en-US" sz="1050" dirty="0">
                <a:solidFill>
                  <a:srgbClr val="4C1D95"/>
                </a:solidFill>
                <a:latin typeface="Calibri" pitchFamily="34" charset="0"/>
                <a:ea typeface="Calibri" pitchFamily="34" charset="-122"/>
                <a:cs typeface="Calibri" pitchFamily="34" charset="-120"/>
              </a:rPr>
              <a:t>💡 n_clusters=None returns subclusters</a:t>
            </a:r>
            <a:endParaRPr lang="en-US" sz="1050" dirty="0"/>
          </a:p>
        </p:txBody>
      </p:sp>
      <p:sp>
        <p:nvSpPr>
          <p:cNvPr id="15" name="Text 13"/>
          <p:cNvSpPr/>
          <p:nvPr/>
        </p:nvSpPr>
        <p:spPr>
          <a:xfrm>
            <a:off x="274320" y="4892040"/>
            <a:ext cx="859536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Clustering Algorithms  |  Slide 3 of 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Clustering Algorithms</dc:title>
  <dc:subject>PptxGenJS Presentation</dc:subject>
  <dc:creator>PptxGenJS</dc:creator>
  <cp:lastModifiedBy>PptxGenJS</cp:lastModifiedBy>
  <cp:revision>1</cp:revision>
  <dcterms:created xsi:type="dcterms:W3CDTF">2026-06-09T05:15:51Z</dcterms:created>
  <dcterms:modified xsi:type="dcterms:W3CDTF">2026-06-09T05:15:51Z</dcterms:modified>
</cp:coreProperties>
</file>